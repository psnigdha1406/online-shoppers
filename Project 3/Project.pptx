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94" r:id="rId4"/>
    <p:sldId id="258" r:id="rId5"/>
    <p:sldId id="259" r:id="rId6"/>
    <p:sldId id="295" r:id="rId7"/>
    <p:sldId id="296" r:id="rId8"/>
    <p:sldId id="297" r:id="rId9"/>
    <p:sldId id="298" r:id="rId10"/>
    <p:sldId id="260" r:id="rId11"/>
    <p:sldId id="301" r:id="rId12"/>
    <p:sldId id="302" r:id="rId13"/>
    <p:sldId id="303" r:id="rId14"/>
    <p:sldId id="304" r:id="rId15"/>
    <p:sldId id="305"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Lato" panose="020F0502020204030203" pitchFamily="34" charset="0"/>
      <p:regular r:id="rId22"/>
      <p:bold r:id="rId23"/>
      <p:italic r:id="rId24"/>
      <p:boldItalic r:id="rId25"/>
    </p:embeddedFont>
    <p:embeddedFont>
      <p:font typeface="Raleway" pitchFamily="2"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in02psUrsAT3SsG9uT5QM67Zhah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CC4538-4A0E-452A-9A6C-9AB4E395B79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IN"/>
        </a:p>
      </dgm:t>
    </dgm:pt>
    <dgm:pt modelId="{1B06A641-620A-447B-9717-B24E869BB9C1}">
      <dgm:prSet/>
      <dgm:spPr/>
      <dgm:t>
        <a:bodyPr/>
        <a:lstStyle/>
        <a:p>
          <a:r>
            <a:rPr lang="en-US" b="0" i="0"/>
            <a:t>This is the data of an online retailing company where they are trying to find which online shopper will generate revenue by his/her online shoppers’ activity on their site.</a:t>
          </a:r>
          <a:endParaRPr lang="en-IN"/>
        </a:p>
      </dgm:t>
    </dgm:pt>
    <dgm:pt modelId="{D3B2895A-0E1F-43DD-A6CE-91B0ED09D9F6}" type="parTrans" cxnId="{B7AE4BF3-EC97-42CB-9D6C-67BBB309D6A8}">
      <dgm:prSet/>
      <dgm:spPr/>
      <dgm:t>
        <a:bodyPr/>
        <a:lstStyle/>
        <a:p>
          <a:endParaRPr lang="en-IN"/>
        </a:p>
      </dgm:t>
    </dgm:pt>
    <dgm:pt modelId="{76B9C7E5-5704-4D92-8D66-E79C1E92F210}" type="sibTrans" cxnId="{B7AE4BF3-EC97-42CB-9D6C-67BBB309D6A8}">
      <dgm:prSet/>
      <dgm:spPr/>
      <dgm:t>
        <a:bodyPr/>
        <a:lstStyle/>
        <a:p>
          <a:endParaRPr lang="en-IN"/>
        </a:p>
      </dgm:t>
    </dgm:pt>
    <dgm:pt modelId="{0F153CD9-1364-4806-8E60-DE2A2632DCCD}">
      <dgm:prSet/>
      <dgm:spPr/>
      <dgm:t>
        <a:bodyPr/>
        <a:lstStyle/>
        <a:p>
          <a:r>
            <a:rPr lang="en-IN" b="0" i="0"/>
            <a:t>People often spend lot of time browsing through online shopping websites, but the conversion rate into purchases is low.  Determine likelihood of purchase based on the given features in the dataset.  The dataset consists of 18 features belonging to 12,330 online transactions.</a:t>
          </a:r>
          <a:endParaRPr lang="en-IN"/>
        </a:p>
      </dgm:t>
    </dgm:pt>
    <dgm:pt modelId="{5B512FC6-854E-4673-ACCA-2F231499B534}" type="parTrans" cxnId="{3FCEE3E2-CC9B-49A6-9752-D3EE2C324758}">
      <dgm:prSet/>
      <dgm:spPr/>
      <dgm:t>
        <a:bodyPr/>
        <a:lstStyle/>
        <a:p>
          <a:endParaRPr lang="en-IN"/>
        </a:p>
      </dgm:t>
    </dgm:pt>
    <dgm:pt modelId="{E790A621-14F7-46DE-A8DB-82E607315967}" type="sibTrans" cxnId="{3FCEE3E2-CC9B-49A6-9752-D3EE2C324758}">
      <dgm:prSet/>
      <dgm:spPr/>
      <dgm:t>
        <a:bodyPr/>
        <a:lstStyle/>
        <a:p>
          <a:endParaRPr lang="en-IN"/>
        </a:p>
      </dgm:t>
    </dgm:pt>
    <dgm:pt modelId="{FE422466-B817-4708-894A-5D0DAAE4C8E6}">
      <dgm:prSet/>
      <dgm:spPr/>
      <dgm:t>
        <a:bodyPr/>
        <a:lstStyle/>
        <a:p>
          <a:r>
            <a:rPr lang="en-IN" b="0" i="0"/>
            <a:t>The Objective of this project is to identify the user behaviour patterns to effectively understand features that influence n create a ML model which predicts shopping intent of website visitors to PURCHASE or NO PURCHASE.  </a:t>
          </a:r>
          <a:endParaRPr lang="en-IN"/>
        </a:p>
      </dgm:t>
    </dgm:pt>
    <dgm:pt modelId="{FB10E5CA-86A0-4CAB-9EFD-E70EAFC176DA}" type="parTrans" cxnId="{7A9DE255-10F9-4B2E-B84F-33E19FEE7F46}">
      <dgm:prSet/>
      <dgm:spPr/>
      <dgm:t>
        <a:bodyPr/>
        <a:lstStyle/>
        <a:p>
          <a:endParaRPr lang="en-IN"/>
        </a:p>
      </dgm:t>
    </dgm:pt>
    <dgm:pt modelId="{408C7F8F-F1F2-44A7-AA7F-539440C9217E}" type="sibTrans" cxnId="{7A9DE255-10F9-4B2E-B84F-33E19FEE7F46}">
      <dgm:prSet/>
      <dgm:spPr/>
      <dgm:t>
        <a:bodyPr/>
        <a:lstStyle/>
        <a:p>
          <a:endParaRPr lang="en-IN"/>
        </a:p>
      </dgm:t>
    </dgm:pt>
    <dgm:pt modelId="{62B974C1-7A0F-4B20-9DD9-61C4284247DA}" type="pres">
      <dgm:prSet presAssocID="{E0CC4538-4A0E-452A-9A6C-9AB4E395B79B}" presName="linear" presStyleCnt="0">
        <dgm:presLayoutVars>
          <dgm:animLvl val="lvl"/>
          <dgm:resizeHandles val="exact"/>
        </dgm:presLayoutVars>
      </dgm:prSet>
      <dgm:spPr/>
    </dgm:pt>
    <dgm:pt modelId="{963F83CA-10AC-4841-BD02-C71753A05E6D}" type="pres">
      <dgm:prSet presAssocID="{1B06A641-620A-447B-9717-B24E869BB9C1}" presName="parentText" presStyleLbl="node1" presStyleIdx="0" presStyleCnt="3">
        <dgm:presLayoutVars>
          <dgm:chMax val="0"/>
          <dgm:bulletEnabled val="1"/>
        </dgm:presLayoutVars>
      </dgm:prSet>
      <dgm:spPr/>
    </dgm:pt>
    <dgm:pt modelId="{77ADACAB-AF76-4666-8020-69295FECF97A}" type="pres">
      <dgm:prSet presAssocID="{76B9C7E5-5704-4D92-8D66-E79C1E92F210}" presName="spacer" presStyleCnt="0"/>
      <dgm:spPr/>
    </dgm:pt>
    <dgm:pt modelId="{997094D2-7DB3-4DC6-B89C-74D8B46C3AF2}" type="pres">
      <dgm:prSet presAssocID="{0F153CD9-1364-4806-8E60-DE2A2632DCCD}" presName="parentText" presStyleLbl="node1" presStyleIdx="1" presStyleCnt="3">
        <dgm:presLayoutVars>
          <dgm:chMax val="0"/>
          <dgm:bulletEnabled val="1"/>
        </dgm:presLayoutVars>
      </dgm:prSet>
      <dgm:spPr/>
    </dgm:pt>
    <dgm:pt modelId="{DBEB8D6B-1B4A-4281-B0E9-AE782B40BF21}" type="pres">
      <dgm:prSet presAssocID="{E790A621-14F7-46DE-A8DB-82E607315967}" presName="spacer" presStyleCnt="0"/>
      <dgm:spPr/>
    </dgm:pt>
    <dgm:pt modelId="{2FEE10A4-FE35-4248-A8A1-30D74FDD2164}" type="pres">
      <dgm:prSet presAssocID="{FE422466-B817-4708-894A-5D0DAAE4C8E6}" presName="parentText" presStyleLbl="node1" presStyleIdx="2" presStyleCnt="3">
        <dgm:presLayoutVars>
          <dgm:chMax val="0"/>
          <dgm:bulletEnabled val="1"/>
        </dgm:presLayoutVars>
      </dgm:prSet>
      <dgm:spPr/>
    </dgm:pt>
  </dgm:ptLst>
  <dgm:cxnLst>
    <dgm:cxn modelId="{7536C00C-8E28-4B17-8975-DB2A1630101C}" type="presOf" srcId="{0F153CD9-1364-4806-8E60-DE2A2632DCCD}" destId="{997094D2-7DB3-4DC6-B89C-74D8B46C3AF2}" srcOrd="0" destOrd="0" presId="urn:microsoft.com/office/officeart/2005/8/layout/vList2"/>
    <dgm:cxn modelId="{EF424E44-07B7-491C-B3B1-AB05FB467D62}" type="presOf" srcId="{1B06A641-620A-447B-9717-B24E869BB9C1}" destId="{963F83CA-10AC-4841-BD02-C71753A05E6D}" srcOrd="0" destOrd="0" presId="urn:microsoft.com/office/officeart/2005/8/layout/vList2"/>
    <dgm:cxn modelId="{212EF548-7198-49A3-A129-DCC7BFEE4F59}" type="presOf" srcId="{FE422466-B817-4708-894A-5D0DAAE4C8E6}" destId="{2FEE10A4-FE35-4248-A8A1-30D74FDD2164}" srcOrd="0" destOrd="0" presId="urn:microsoft.com/office/officeart/2005/8/layout/vList2"/>
    <dgm:cxn modelId="{950F7C70-7D88-40BE-9838-78B57FA7876F}" type="presOf" srcId="{E0CC4538-4A0E-452A-9A6C-9AB4E395B79B}" destId="{62B974C1-7A0F-4B20-9DD9-61C4284247DA}" srcOrd="0" destOrd="0" presId="urn:microsoft.com/office/officeart/2005/8/layout/vList2"/>
    <dgm:cxn modelId="{7A9DE255-10F9-4B2E-B84F-33E19FEE7F46}" srcId="{E0CC4538-4A0E-452A-9A6C-9AB4E395B79B}" destId="{FE422466-B817-4708-894A-5D0DAAE4C8E6}" srcOrd="2" destOrd="0" parTransId="{FB10E5CA-86A0-4CAB-9EFD-E70EAFC176DA}" sibTransId="{408C7F8F-F1F2-44A7-AA7F-539440C9217E}"/>
    <dgm:cxn modelId="{3FCEE3E2-CC9B-49A6-9752-D3EE2C324758}" srcId="{E0CC4538-4A0E-452A-9A6C-9AB4E395B79B}" destId="{0F153CD9-1364-4806-8E60-DE2A2632DCCD}" srcOrd="1" destOrd="0" parTransId="{5B512FC6-854E-4673-ACCA-2F231499B534}" sibTransId="{E790A621-14F7-46DE-A8DB-82E607315967}"/>
    <dgm:cxn modelId="{B7AE4BF3-EC97-42CB-9D6C-67BBB309D6A8}" srcId="{E0CC4538-4A0E-452A-9A6C-9AB4E395B79B}" destId="{1B06A641-620A-447B-9717-B24E869BB9C1}" srcOrd="0" destOrd="0" parTransId="{D3B2895A-0E1F-43DD-A6CE-91B0ED09D9F6}" sibTransId="{76B9C7E5-5704-4D92-8D66-E79C1E92F210}"/>
    <dgm:cxn modelId="{835528E1-E3B3-4C0C-A502-4F28895CE1AC}" type="presParOf" srcId="{62B974C1-7A0F-4B20-9DD9-61C4284247DA}" destId="{963F83CA-10AC-4841-BD02-C71753A05E6D}" srcOrd="0" destOrd="0" presId="urn:microsoft.com/office/officeart/2005/8/layout/vList2"/>
    <dgm:cxn modelId="{60781679-E4B6-4DEE-8361-671973D25BFD}" type="presParOf" srcId="{62B974C1-7A0F-4B20-9DD9-61C4284247DA}" destId="{77ADACAB-AF76-4666-8020-69295FECF97A}" srcOrd="1" destOrd="0" presId="urn:microsoft.com/office/officeart/2005/8/layout/vList2"/>
    <dgm:cxn modelId="{35D02847-1A3E-4682-BF3F-1AAF992F314D}" type="presParOf" srcId="{62B974C1-7A0F-4B20-9DD9-61C4284247DA}" destId="{997094D2-7DB3-4DC6-B89C-74D8B46C3AF2}" srcOrd="2" destOrd="0" presId="urn:microsoft.com/office/officeart/2005/8/layout/vList2"/>
    <dgm:cxn modelId="{D54F45E2-27D8-4F43-AFF7-1227A95E68FA}" type="presParOf" srcId="{62B974C1-7A0F-4B20-9DD9-61C4284247DA}" destId="{DBEB8D6B-1B4A-4281-B0E9-AE782B40BF21}" srcOrd="3" destOrd="0" presId="urn:microsoft.com/office/officeart/2005/8/layout/vList2"/>
    <dgm:cxn modelId="{2B585696-691B-48E5-869D-07438F35F106}" type="presParOf" srcId="{62B974C1-7A0F-4B20-9DD9-61C4284247DA}" destId="{2FEE10A4-FE35-4248-A8A1-30D74FDD2164}"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B4D24F-F1B9-4617-9243-1EBA7D3E6685}" type="doc">
      <dgm:prSet loTypeId="urn:microsoft.com/office/officeart/2005/8/layout/vList3" loCatId="list" qsTypeId="urn:microsoft.com/office/officeart/2005/8/quickstyle/simple1" qsCatId="simple" csTypeId="urn:microsoft.com/office/officeart/2005/8/colors/colorful2" csCatId="colorful" phldr="1"/>
      <dgm:spPr/>
      <dgm:t>
        <a:bodyPr/>
        <a:lstStyle/>
        <a:p>
          <a:endParaRPr lang="en-IN"/>
        </a:p>
      </dgm:t>
    </dgm:pt>
    <dgm:pt modelId="{BA9EC470-CF68-44A4-9C39-29D3A2CDB858}">
      <dgm:prSet/>
      <dgm:spPr/>
      <dgm:t>
        <a:bodyPr/>
        <a:lstStyle/>
        <a:p>
          <a:r>
            <a:rPr lang="en-IN" b="1" i="0"/>
            <a:t>Output Variable : </a:t>
          </a:r>
          <a:r>
            <a:rPr lang="en-IN" b="0" i="0"/>
            <a:t>Revenue</a:t>
          </a:r>
          <a:endParaRPr lang="en-IN"/>
        </a:p>
      </dgm:t>
    </dgm:pt>
    <dgm:pt modelId="{6BFF8D7C-E7A9-40B6-A419-681DDA149E86}" type="parTrans" cxnId="{EEBEBC58-EA6C-4076-B144-87479D767020}">
      <dgm:prSet/>
      <dgm:spPr/>
      <dgm:t>
        <a:bodyPr/>
        <a:lstStyle/>
        <a:p>
          <a:endParaRPr lang="en-IN"/>
        </a:p>
      </dgm:t>
    </dgm:pt>
    <dgm:pt modelId="{FC94EFE8-BC53-45B1-ABBC-34F2BF12E4B4}" type="sibTrans" cxnId="{EEBEBC58-EA6C-4076-B144-87479D767020}">
      <dgm:prSet/>
      <dgm:spPr/>
      <dgm:t>
        <a:bodyPr/>
        <a:lstStyle/>
        <a:p>
          <a:endParaRPr lang="en-IN"/>
        </a:p>
      </dgm:t>
    </dgm:pt>
    <dgm:pt modelId="{05C7133A-B618-4395-8D21-F3A5E782F4EC}">
      <dgm:prSet/>
      <dgm:spPr/>
      <dgm:t>
        <a:bodyPr/>
        <a:lstStyle/>
        <a:p>
          <a:r>
            <a:rPr lang="en-IN" b="1" i="0"/>
            <a:t>Datatypes : </a:t>
          </a:r>
          <a:r>
            <a:rPr lang="en-IN" b="0" i="0"/>
            <a:t>Int-7, Float – 7, Obj – 2, Bool – 2</a:t>
          </a:r>
          <a:endParaRPr lang="en-IN"/>
        </a:p>
      </dgm:t>
    </dgm:pt>
    <dgm:pt modelId="{CC4C01FB-E191-42CC-A02C-09206C45A079}" type="parTrans" cxnId="{6A71F24D-5B8C-4792-9495-3E0B792CA0ED}">
      <dgm:prSet/>
      <dgm:spPr/>
      <dgm:t>
        <a:bodyPr/>
        <a:lstStyle/>
        <a:p>
          <a:endParaRPr lang="en-IN"/>
        </a:p>
      </dgm:t>
    </dgm:pt>
    <dgm:pt modelId="{6C25D05B-20CF-49F8-910A-F10D9FAA6812}" type="sibTrans" cxnId="{6A71F24D-5B8C-4792-9495-3E0B792CA0ED}">
      <dgm:prSet/>
      <dgm:spPr/>
      <dgm:t>
        <a:bodyPr/>
        <a:lstStyle/>
        <a:p>
          <a:endParaRPr lang="en-IN"/>
        </a:p>
      </dgm:t>
    </dgm:pt>
    <dgm:pt modelId="{2557056B-6969-408B-8202-3D95F3442B47}">
      <dgm:prSet/>
      <dgm:spPr/>
      <dgm:t>
        <a:bodyPr/>
        <a:lstStyle/>
        <a:p>
          <a:r>
            <a:rPr lang="en-IN" b="0" i="0"/>
            <a:t>No Null Values</a:t>
          </a:r>
          <a:endParaRPr lang="en-IN"/>
        </a:p>
      </dgm:t>
    </dgm:pt>
    <dgm:pt modelId="{64CC77C7-FB14-47A0-9E5E-79CFA7B1E93B}" type="parTrans" cxnId="{BD1F7324-4C00-4BA0-84AE-44FBC10871D0}">
      <dgm:prSet/>
      <dgm:spPr/>
      <dgm:t>
        <a:bodyPr/>
        <a:lstStyle/>
        <a:p>
          <a:endParaRPr lang="en-IN"/>
        </a:p>
      </dgm:t>
    </dgm:pt>
    <dgm:pt modelId="{949D9913-0295-4568-BD6B-3D45DEBF597C}" type="sibTrans" cxnId="{BD1F7324-4C00-4BA0-84AE-44FBC10871D0}">
      <dgm:prSet/>
      <dgm:spPr/>
      <dgm:t>
        <a:bodyPr/>
        <a:lstStyle/>
        <a:p>
          <a:endParaRPr lang="en-IN"/>
        </a:p>
      </dgm:t>
    </dgm:pt>
    <dgm:pt modelId="{84282911-1A2C-4864-9F84-35E0AE5B26F1}">
      <dgm:prSet/>
      <dgm:spPr/>
      <dgm:t>
        <a:bodyPr/>
        <a:lstStyle/>
        <a:p>
          <a:r>
            <a:rPr lang="en-IN" b="0" i="0"/>
            <a:t>No Duplicates</a:t>
          </a:r>
          <a:endParaRPr lang="en-IN"/>
        </a:p>
      </dgm:t>
    </dgm:pt>
    <dgm:pt modelId="{2CE681C3-2277-47CA-971B-1A0985AE4235}" type="parTrans" cxnId="{2F4B4D54-07AF-454F-BCA3-208D2DD2314E}">
      <dgm:prSet/>
      <dgm:spPr/>
      <dgm:t>
        <a:bodyPr/>
        <a:lstStyle/>
        <a:p>
          <a:endParaRPr lang="en-IN"/>
        </a:p>
      </dgm:t>
    </dgm:pt>
    <dgm:pt modelId="{BE4799A2-0318-4727-9FAC-13764FFE289B}" type="sibTrans" cxnId="{2F4B4D54-07AF-454F-BCA3-208D2DD2314E}">
      <dgm:prSet/>
      <dgm:spPr/>
      <dgm:t>
        <a:bodyPr/>
        <a:lstStyle/>
        <a:p>
          <a:endParaRPr lang="en-IN"/>
        </a:p>
      </dgm:t>
    </dgm:pt>
    <dgm:pt modelId="{90F253F5-9A34-4605-838B-2900EE7D5A7E}">
      <dgm:prSet/>
      <dgm:spPr/>
      <dgm:t>
        <a:bodyPr/>
        <a:lstStyle/>
        <a:p>
          <a:r>
            <a:rPr lang="en-IN" b="0" i="0" dirty="0"/>
            <a:t>Outliers Treatment to be done</a:t>
          </a:r>
          <a:endParaRPr lang="en-IN" dirty="0"/>
        </a:p>
      </dgm:t>
    </dgm:pt>
    <dgm:pt modelId="{4136E6D6-E1C6-4093-B235-622A5AEE6985}" type="parTrans" cxnId="{05FD0192-2079-4521-A2BC-8CA2E74A4FED}">
      <dgm:prSet/>
      <dgm:spPr/>
      <dgm:t>
        <a:bodyPr/>
        <a:lstStyle/>
        <a:p>
          <a:endParaRPr lang="en-IN"/>
        </a:p>
      </dgm:t>
    </dgm:pt>
    <dgm:pt modelId="{E89E94FA-49DF-4291-B616-990006714B7A}" type="sibTrans" cxnId="{05FD0192-2079-4521-A2BC-8CA2E74A4FED}">
      <dgm:prSet/>
      <dgm:spPr/>
      <dgm:t>
        <a:bodyPr/>
        <a:lstStyle/>
        <a:p>
          <a:endParaRPr lang="en-IN"/>
        </a:p>
      </dgm:t>
    </dgm:pt>
    <dgm:pt modelId="{92E22C05-86AE-4CEA-8E25-4114C8EC9001}" type="pres">
      <dgm:prSet presAssocID="{C5B4D24F-F1B9-4617-9243-1EBA7D3E6685}" presName="linearFlow" presStyleCnt="0">
        <dgm:presLayoutVars>
          <dgm:dir/>
          <dgm:resizeHandles val="exact"/>
        </dgm:presLayoutVars>
      </dgm:prSet>
      <dgm:spPr/>
    </dgm:pt>
    <dgm:pt modelId="{087E05DB-AE7D-42C1-BF44-657DDBE6F621}" type="pres">
      <dgm:prSet presAssocID="{BA9EC470-CF68-44A4-9C39-29D3A2CDB858}" presName="composite" presStyleCnt="0"/>
      <dgm:spPr/>
    </dgm:pt>
    <dgm:pt modelId="{D2ABAFED-8558-4E74-AB8F-E87B128C476A}" type="pres">
      <dgm:prSet presAssocID="{BA9EC470-CF68-44A4-9C39-29D3A2CDB858}" presName="imgShp" presStyleLbl="fgImgPlace1" presStyleIdx="0" presStyleCnt="5"/>
      <dgm:spPr/>
    </dgm:pt>
    <dgm:pt modelId="{1C9CBDA5-C346-4943-A029-19419B796AD5}" type="pres">
      <dgm:prSet presAssocID="{BA9EC470-CF68-44A4-9C39-29D3A2CDB858}" presName="txShp" presStyleLbl="node1" presStyleIdx="0" presStyleCnt="5">
        <dgm:presLayoutVars>
          <dgm:bulletEnabled val="1"/>
        </dgm:presLayoutVars>
      </dgm:prSet>
      <dgm:spPr/>
    </dgm:pt>
    <dgm:pt modelId="{672EBDA2-6E37-4C96-8AC0-AB976B6C84B9}" type="pres">
      <dgm:prSet presAssocID="{FC94EFE8-BC53-45B1-ABBC-34F2BF12E4B4}" presName="spacing" presStyleCnt="0"/>
      <dgm:spPr/>
    </dgm:pt>
    <dgm:pt modelId="{18F32400-E18B-4AEF-9111-BA5EFB4A4ED3}" type="pres">
      <dgm:prSet presAssocID="{05C7133A-B618-4395-8D21-F3A5E782F4EC}" presName="composite" presStyleCnt="0"/>
      <dgm:spPr/>
    </dgm:pt>
    <dgm:pt modelId="{D92CC248-72E8-418B-9DDF-F96B6A29BEC8}" type="pres">
      <dgm:prSet presAssocID="{05C7133A-B618-4395-8D21-F3A5E782F4EC}" presName="imgShp" presStyleLbl="fgImgPlace1" presStyleIdx="1" presStyleCnt="5"/>
      <dgm:spPr/>
    </dgm:pt>
    <dgm:pt modelId="{EAA93DA7-A049-4393-A0AE-01D8AA3113A1}" type="pres">
      <dgm:prSet presAssocID="{05C7133A-B618-4395-8D21-F3A5E782F4EC}" presName="txShp" presStyleLbl="node1" presStyleIdx="1" presStyleCnt="5">
        <dgm:presLayoutVars>
          <dgm:bulletEnabled val="1"/>
        </dgm:presLayoutVars>
      </dgm:prSet>
      <dgm:spPr/>
    </dgm:pt>
    <dgm:pt modelId="{4E5784AF-4462-45FE-B8F1-59C22A61C465}" type="pres">
      <dgm:prSet presAssocID="{6C25D05B-20CF-49F8-910A-F10D9FAA6812}" presName="spacing" presStyleCnt="0"/>
      <dgm:spPr/>
    </dgm:pt>
    <dgm:pt modelId="{22E4DBC3-E2D4-42FC-BF22-0EAF70A6ECA0}" type="pres">
      <dgm:prSet presAssocID="{2557056B-6969-408B-8202-3D95F3442B47}" presName="composite" presStyleCnt="0"/>
      <dgm:spPr/>
    </dgm:pt>
    <dgm:pt modelId="{D52C2D74-61DE-4259-A90C-461C1EB2F657}" type="pres">
      <dgm:prSet presAssocID="{2557056B-6969-408B-8202-3D95F3442B47}" presName="imgShp" presStyleLbl="fgImgPlace1" presStyleIdx="2" presStyleCnt="5"/>
      <dgm:spPr/>
    </dgm:pt>
    <dgm:pt modelId="{E65653B8-DE09-4F9F-9FE9-11F731A2DEC9}" type="pres">
      <dgm:prSet presAssocID="{2557056B-6969-408B-8202-3D95F3442B47}" presName="txShp" presStyleLbl="node1" presStyleIdx="2" presStyleCnt="5">
        <dgm:presLayoutVars>
          <dgm:bulletEnabled val="1"/>
        </dgm:presLayoutVars>
      </dgm:prSet>
      <dgm:spPr/>
    </dgm:pt>
    <dgm:pt modelId="{CF2877F7-5BC4-41FF-AD16-8F1E8C2606DB}" type="pres">
      <dgm:prSet presAssocID="{949D9913-0295-4568-BD6B-3D45DEBF597C}" presName="spacing" presStyleCnt="0"/>
      <dgm:spPr/>
    </dgm:pt>
    <dgm:pt modelId="{385508EF-15AD-4C37-AA5C-A549CC6DC812}" type="pres">
      <dgm:prSet presAssocID="{84282911-1A2C-4864-9F84-35E0AE5B26F1}" presName="composite" presStyleCnt="0"/>
      <dgm:spPr/>
    </dgm:pt>
    <dgm:pt modelId="{D932CD28-55CF-4CF0-8215-20C1C937A131}" type="pres">
      <dgm:prSet presAssocID="{84282911-1A2C-4864-9F84-35E0AE5B26F1}" presName="imgShp" presStyleLbl="fgImgPlace1" presStyleIdx="3" presStyleCnt="5"/>
      <dgm:spPr/>
    </dgm:pt>
    <dgm:pt modelId="{0C046C48-2496-4C83-8C90-A07C4BA55C1F}" type="pres">
      <dgm:prSet presAssocID="{84282911-1A2C-4864-9F84-35E0AE5B26F1}" presName="txShp" presStyleLbl="node1" presStyleIdx="3" presStyleCnt="5">
        <dgm:presLayoutVars>
          <dgm:bulletEnabled val="1"/>
        </dgm:presLayoutVars>
      </dgm:prSet>
      <dgm:spPr/>
    </dgm:pt>
    <dgm:pt modelId="{16B52DB8-EFFA-4EBD-AAFF-E37DA60C66E9}" type="pres">
      <dgm:prSet presAssocID="{BE4799A2-0318-4727-9FAC-13764FFE289B}" presName="spacing" presStyleCnt="0"/>
      <dgm:spPr/>
    </dgm:pt>
    <dgm:pt modelId="{91431075-5D39-466F-9148-C8D2E3FC1112}" type="pres">
      <dgm:prSet presAssocID="{90F253F5-9A34-4605-838B-2900EE7D5A7E}" presName="composite" presStyleCnt="0"/>
      <dgm:spPr/>
    </dgm:pt>
    <dgm:pt modelId="{77AAE90B-9892-4C79-833A-D2632FB07D25}" type="pres">
      <dgm:prSet presAssocID="{90F253F5-9A34-4605-838B-2900EE7D5A7E}" presName="imgShp" presStyleLbl="fgImgPlace1" presStyleIdx="4" presStyleCnt="5"/>
      <dgm:spPr/>
    </dgm:pt>
    <dgm:pt modelId="{0E047386-2B24-4EEA-BBC8-B4B71C86C800}" type="pres">
      <dgm:prSet presAssocID="{90F253F5-9A34-4605-838B-2900EE7D5A7E}" presName="txShp" presStyleLbl="node1" presStyleIdx="4" presStyleCnt="5">
        <dgm:presLayoutVars>
          <dgm:bulletEnabled val="1"/>
        </dgm:presLayoutVars>
      </dgm:prSet>
      <dgm:spPr/>
    </dgm:pt>
  </dgm:ptLst>
  <dgm:cxnLst>
    <dgm:cxn modelId="{C4D0380D-4A8B-4004-A057-44D8149E3536}" type="presOf" srcId="{BA9EC470-CF68-44A4-9C39-29D3A2CDB858}" destId="{1C9CBDA5-C346-4943-A029-19419B796AD5}" srcOrd="0" destOrd="0" presId="urn:microsoft.com/office/officeart/2005/8/layout/vList3"/>
    <dgm:cxn modelId="{87A26D1A-8D66-4882-AE22-840F5E2F6848}" type="presOf" srcId="{90F253F5-9A34-4605-838B-2900EE7D5A7E}" destId="{0E047386-2B24-4EEA-BBC8-B4B71C86C800}" srcOrd="0" destOrd="0" presId="urn:microsoft.com/office/officeart/2005/8/layout/vList3"/>
    <dgm:cxn modelId="{BD1F7324-4C00-4BA0-84AE-44FBC10871D0}" srcId="{C5B4D24F-F1B9-4617-9243-1EBA7D3E6685}" destId="{2557056B-6969-408B-8202-3D95F3442B47}" srcOrd="2" destOrd="0" parTransId="{64CC77C7-FB14-47A0-9E5E-79CFA7B1E93B}" sibTransId="{949D9913-0295-4568-BD6B-3D45DEBF597C}"/>
    <dgm:cxn modelId="{6A71F24D-5B8C-4792-9495-3E0B792CA0ED}" srcId="{C5B4D24F-F1B9-4617-9243-1EBA7D3E6685}" destId="{05C7133A-B618-4395-8D21-F3A5E782F4EC}" srcOrd="1" destOrd="0" parTransId="{CC4C01FB-E191-42CC-A02C-09206C45A079}" sibTransId="{6C25D05B-20CF-49F8-910A-F10D9FAA6812}"/>
    <dgm:cxn modelId="{2F4B4D54-07AF-454F-BCA3-208D2DD2314E}" srcId="{C5B4D24F-F1B9-4617-9243-1EBA7D3E6685}" destId="{84282911-1A2C-4864-9F84-35E0AE5B26F1}" srcOrd="3" destOrd="0" parTransId="{2CE681C3-2277-47CA-971B-1A0985AE4235}" sibTransId="{BE4799A2-0318-4727-9FAC-13764FFE289B}"/>
    <dgm:cxn modelId="{1CF29757-6D7D-4C2D-BC11-71022DC69099}" type="presOf" srcId="{C5B4D24F-F1B9-4617-9243-1EBA7D3E6685}" destId="{92E22C05-86AE-4CEA-8E25-4114C8EC9001}" srcOrd="0" destOrd="0" presId="urn:microsoft.com/office/officeart/2005/8/layout/vList3"/>
    <dgm:cxn modelId="{EEBEBC58-EA6C-4076-B144-87479D767020}" srcId="{C5B4D24F-F1B9-4617-9243-1EBA7D3E6685}" destId="{BA9EC470-CF68-44A4-9C39-29D3A2CDB858}" srcOrd="0" destOrd="0" parTransId="{6BFF8D7C-E7A9-40B6-A419-681DDA149E86}" sibTransId="{FC94EFE8-BC53-45B1-ABBC-34F2BF12E4B4}"/>
    <dgm:cxn modelId="{05FD0192-2079-4521-A2BC-8CA2E74A4FED}" srcId="{C5B4D24F-F1B9-4617-9243-1EBA7D3E6685}" destId="{90F253F5-9A34-4605-838B-2900EE7D5A7E}" srcOrd="4" destOrd="0" parTransId="{4136E6D6-E1C6-4093-B235-622A5AEE6985}" sibTransId="{E89E94FA-49DF-4291-B616-990006714B7A}"/>
    <dgm:cxn modelId="{AE2327A5-1A51-4A02-882A-BF618C1B2D2C}" type="presOf" srcId="{84282911-1A2C-4864-9F84-35E0AE5B26F1}" destId="{0C046C48-2496-4C83-8C90-A07C4BA55C1F}" srcOrd="0" destOrd="0" presId="urn:microsoft.com/office/officeart/2005/8/layout/vList3"/>
    <dgm:cxn modelId="{135465CE-2E8B-4880-8B7E-2BD0E4887C50}" type="presOf" srcId="{05C7133A-B618-4395-8D21-F3A5E782F4EC}" destId="{EAA93DA7-A049-4393-A0AE-01D8AA3113A1}" srcOrd="0" destOrd="0" presId="urn:microsoft.com/office/officeart/2005/8/layout/vList3"/>
    <dgm:cxn modelId="{E5D99FFA-D72C-425B-8069-0D2611F2E610}" type="presOf" srcId="{2557056B-6969-408B-8202-3D95F3442B47}" destId="{E65653B8-DE09-4F9F-9FE9-11F731A2DEC9}" srcOrd="0" destOrd="0" presId="urn:microsoft.com/office/officeart/2005/8/layout/vList3"/>
    <dgm:cxn modelId="{B8672323-E1C7-4E73-9098-31790B67CD63}" type="presParOf" srcId="{92E22C05-86AE-4CEA-8E25-4114C8EC9001}" destId="{087E05DB-AE7D-42C1-BF44-657DDBE6F621}" srcOrd="0" destOrd="0" presId="urn:microsoft.com/office/officeart/2005/8/layout/vList3"/>
    <dgm:cxn modelId="{17B706C6-22E2-4B4A-9C3D-F5FFB75FA09A}" type="presParOf" srcId="{087E05DB-AE7D-42C1-BF44-657DDBE6F621}" destId="{D2ABAFED-8558-4E74-AB8F-E87B128C476A}" srcOrd="0" destOrd="0" presId="urn:microsoft.com/office/officeart/2005/8/layout/vList3"/>
    <dgm:cxn modelId="{82ED4312-6012-488F-8DDC-B2714E3D0111}" type="presParOf" srcId="{087E05DB-AE7D-42C1-BF44-657DDBE6F621}" destId="{1C9CBDA5-C346-4943-A029-19419B796AD5}" srcOrd="1" destOrd="0" presId="urn:microsoft.com/office/officeart/2005/8/layout/vList3"/>
    <dgm:cxn modelId="{0E3AB562-2BB1-487F-927A-D253E18C727C}" type="presParOf" srcId="{92E22C05-86AE-4CEA-8E25-4114C8EC9001}" destId="{672EBDA2-6E37-4C96-8AC0-AB976B6C84B9}" srcOrd="1" destOrd="0" presId="urn:microsoft.com/office/officeart/2005/8/layout/vList3"/>
    <dgm:cxn modelId="{E6AA77AF-1DE0-440F-9A00-80A64D1A35A0}" type="presParOf" srcId="{92E22C05-86AE-4CEA-8E25-4114C8EC9001}" destId="{18F32400-E18B-4AEF-9111-BA5EFB4A4ED3}" srcOrd="2" destOrd="0" presId="urn:microsoft.com/office/officeart/2005/8/layout/vList3"/>
    <dgm:cxn modelId="{8E67680E-7923-4552-9164-E91E120B8DE5}" type="presParOf" srcId="{18F32400-E18B-4AEF-9111-BA5EFB4A4ED3}" destId="{D92CC248-72E8-418B-9DDF-F96B6A29BEC8}" srcOrd="0" destOrd="0" presId="urn:microsoft.com/office/officeart/2005/8/layout/vList3"/>
    <dgm:cxn modelId="{5E80A25A-05E5-47C4-A9F7-FE621DB62F1A}" type="presParOf" srcId="{18F32400-E18B-4AEF-9111-BA5EFB4A4ED3}" destId="{EAA93DA7-A049-4393-A0AE-01D8AA3113A1}" srcOrd="1" destOrd="0" presId="urn:microsoft.com/office/officeart/2005/8/layout/vList3"/>
    <dgm:cxn modelId="{5D7F9BDD-1457-4772-9229-7057DE4B1FC9}" type="presParOf" srcId="{92E22C05-86AE-4CEA-8E25-4114C8EC9001}" destId="{4E5784AF-4462-45FE-B8F1-59C22A61C465}" srcOrd="3" destOrd="0" presId="urn:microsoft.com/office/officeart/2005/8/layout/vList3"/>
    <dgm:cxn modelId="{F4B08276-E772-4095-9099-6207F9F6E1A9}" type="presParOf" srcId="{92E22C05-86AE-4CEA-8E25-4114C8EC9001}" destId="{22E4DBC3-E2D4-42FC-BF22-0EAF70A6ECA0}" srcOrd="4" destOrd="0" presId="urn:microsoft.com/office/officeart/2005/8/layout/vList3"/>
    <dgm:cxn modelId="{87BB2BEF-9380-45E1-96BD-A2312B01D7E9}" type="presParOf" srcId="{22E4DBC3-E2D4-42FC-BF22-0EAF70A6ECA0}" destId="{D52C2D74-61DE-4259-A90C-461C1EB2F657}" srcOrd="0" destOrd="0" presId="urn:microsoft.com/office/officeart/2005/8/layout/vList3"/>
    <dgm:cxn modelId="{B95C1C90-7595-4BA1-910F-6D83F3662ED3}" type="presParOf" srcId="{22E4DBC3-E2D4-42FC-BF22-0EAF70A6ECA0}" destId="{E65653B8-DE09-4F9F-9FE9-11F731A2DEC9}" srcOrd="1" destOrd="0" presId="urn:microsoft.com/office/officeart/2005/8/layout/vList3"/>
    <dgm:cxn modelId="{173CAFA0-D9E6-41C0-8E97-62F844B168D2}" type="presParOf" srcId="{92E22C05-86AE-4CEA-8E25-4114C8EC9001}" destId="{CF2877F7-5BC4-41FF-AD16-8F1E8C2606DB}" srcOrd="5" destOrd="0" presId="urn:microsoft.com/office/officeart/2005/8/layout/vList3"/>
    <dgm:cxn modelId="{D71D26D1-4FE9-435B-B60A-66747C035412}" type="presParOf" srcId="{92E22C05-86AE-4CEA-8E25-4114C8EC9001}" destId="{385508EF-15AD-4C37-AA5C-A549CC6DC812}" srcOrd="6" destOrd="0" presId="urn:microsoft.com/office/officeart/2005/8/layout/vList3"/>
    <dgm:cxn modelId="{BB2A3225-41C4-4C18-9368-293D9E597502}" type="presParOf" srcId="{385508EF-15AD-4C37-AA5C-A549CC6DC812}" destId="{D932CD28-55CF-4CF0-8215-20C1C937A131}" srcOrd="0" destOrd="0" presId="urn:microsoft.com/office/officeart/2005/8/layout/vList3"/>
    <dgm:cxn modelId="{E9C0BB79-95B4-406C-8949-6E52F354ACD0}" type="presParOf" srcId="{385508EF-15AD-4C37-AA5C-A549CC6DC812}" destId="{0C046C48-2496-4C83-8C90-A07C4BA55C1F}" srcOrd="1" destOrd="0" presId="urn:microsoft.com/office/officeart/2005/8/layout/vList3"/>
    <dgm:cxn modelId="{7C420F1C-86AB-41ED-83D5-AEC569E6CA98}" type="presParOf" srcId="{92E22C05-86AE-4CEA-8E25-4114C8EC9001}" destId="{16B52DB8-EFFA-4EBD-AAFF-E37DA60C66E9}" srcOrd="7" destOrd="0" presId="urn:microsoft.com/office/officeart/2005/8/layout/vList3"/>
    <dgm:cxn modelId="{0C17EDA8-051B-4F1B-B6F2-FE310A40EABF}" type="presParOf" srcId="{92E22C05-86AE-4CEA-8E25-4114C8EC9001}" destId="{91431075-5D39-466F-9148-C8D2E3FC1112}" srcOrd="8" destOrd="0" presId="urn:microsoft.com/office/officeart/2005/8/layout/vList3"/>
    <dgm:cxn modelId="{A8CA9158-D40A-4FCC-AE15-0EB10468FDD8}" type="presParOf" srcId="{91431075-5D39-466F-9148-C8D2E3FC1112}" destId="{77AAE90B-9892-4C79-833A-D2632FB07D25}" srcOrd="0" destOrd="0" presId="urn:microsoft.com/office/officeart/2005/8/layout/vList3"/>
    <dgm:cxn modelId="{028D3E90-FEBF-4EBB-AF7A-76A670A34E18}" type="presParOf" srcId="{91431075-5D39-466F-9148-C8D2E3FC1112}" destId="{0E047386-2B24-4EEA-BBC8-B4B71C86C80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D78DB9-3821-4321-879B-1ED6A67EE8F4}"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IN"/>
        </a:p>
      </dgm:t>
    </dgm:pt>
    <dgm:pt modelId="{F4855B48-2197-46AC-9321-FF0C0923AF22}">
      <dgm:prSet custT="1"/>
      <dgm:spPr/>
      <dgm:t>
        <a:bodyPr/>
        <a:lstStyle/>
        <a:p>
          <a:r>
            <a:rPr lang="en-IN" sz="900" b="0" i="0" dirty="0"/>
            <a:t>As per Feature </a:t>
          </a:r>
          <a:r>
            <a:rPr lang="en-IN" sz="900" b="0" i="0" dirty="0" err="1"/>
            <a:t>Importances</a:t>
          </a:r>
          <a:r>
            <a:rPr lang="en-IN" sz="900" b="0" i="0" dirty="0"/>
            <a:t>, </a:t>
          </a:r>
          <a:r>
            <a:rPr lang="en-IN" sz="900" b="0" i="0" dirty="0" err="1"/>
            <a:t>PageValue</a:t>
          </a:r>
          <a:r>
            <a:rPr lang="en-IN" sz="900" b="0" i="0" dirty="0"/>
            <a:t> is the most important feature and pages with high average value contribute more to revenue generation. Replicate the characteristics of these pages in other pages to enhance page value</a:t>
          </a:r>
          <a:endParaRPr lang="en-IN" sz="900" dirty="0"/>
        </a:p>
      </dgm:t>
    </dgm:pt>
    <dgm:pt modelId="{5AC1EE83-2B8A-494A-BD0D-AD59074511B6}" type="parTrans" cxnId="{E539E939-4A59-4455-AFE0-5F60CDF2900B}">
      <dgm:prSet/>
      <dgm:spPr/>
      <dgm:t>
        <a:bodyPr/>
        <a:lstStyle/>
        <a:p>
          <a:endParaRPr lang="en-IN" sz="3200"/>
        </a:p>
      </dgm:t>
    </dgm:pt>
    <dgm:pt modelId="{52903281-D9B1-4961-9372-EAC74CBA8EA8}" type="sibTrans" cxnId="{E539E939-4A59-4455-AFE0-5F60CDF2900B}">
      <dgm:prSet custT="1"/>
      <dgm:spPr/>
      <dgm:t>
        <a:bodyPr/>
        <a:lstStyle/>
        <a:p>
          <a:endParaRPr lang="en-IN" sz="800"/>
        </a:p>
      </dgm:t>
    </dgm:pt>
    <dgm:pt modelId="{571B8376-240A-4A15-9E06-307BF83FB1E6}">
      <dgm:prSet custT="1"/>
      <dgm:spPr/>
      <dgm:t>
        <a:bodyPr/>
        <a:lstStyle/>
        <a:p>
          <a:r>
            <a:rPr lang="en-IN" sz="900" b="0" i="0"/>
            <a:t>From EDA, and survey the month of November and May has always been great for ecommerce and revenue may be due to Festival season and Summer.  We can leverage this and produce better turnouts by offering customers with holiday gifts, discounts sale, goodies etc.,</a:t>
          </a:r>
          <a:endParaRPr lang="en-IN" sz="900"/>
        </a:p>
      </dgm:t>
    </dgm:pt>
    <dgm:pt modelId="{01579D8B-2E6A-4BF4-9ACF-D093C6F39D3E}" type="parTrans" cxnId="{8EEE05BF-ECBA-4624-9D7B-59712FB53F4A}">
      <dgm:prSet/>
      <dgm:spPr/>
      <dgm:t>
        <a:bodyPr/>
        <a:lstStyle/>
        <a:p>
          <a:endParaRPr lang="en-IN" sz="3200"/>
        </a:p>
      </dgm:t>
    </dgm:pt>
    <dgm:pt modelId="{889E1C61-55E3-4E48-B1FC-2AAA72FA6D54}" type="sibTrans" cxnId="{8EEE05BF-ECBA-4624-9D7B-59712FB53F4A}">
      <dgm:prSet custT="1"/>
      <dgm:spPr/>
      <dgm:t>
        <a:bodyPr/>
        <a:lstStyle/>
        <a:p>
          <a:endParaRPr lang="en-IN" sz="800"/>
        </a:p>
      </dgm:t>
    </dgm:pt>
    <dgm:pt modelId="{48F4F3EE-1FEE-43A1-9785-FF188E8D65D3}">
      <dgm:prSet custT="1"/>
      <dgm:spPr/>
      <dgm:t>
        <a:bodyPr/>
        <a:lstStyle/>
        <a:p>
          <a:r>
            <a:rPr lang="en-IN" sz="900" b="0" i="0" dirty="0"/>
            <a:t>Identify the pages with high bounce rate, exit rates and divert traffic to other pages. Also enhance webpage content so that these parameters reduced.</a:t>
          </a:r>
          <a:endParaRPr lang="en-IN" sz="900" dirty="0"/>
        </a:p>
      </dgm:t>
    </dgm:pt>
    <dgm:pt modelId="{47CEE159-6EDE-4830-8780-B64D04AF2AB1}" type="parTrans" cxnId="{B1457BE8-3BD8-463C-AEF2-16EF836DCB19}">
      <dgm:prSet/>
      <dgm:spPr/>
      <dgm:t>
        <a:bodyPr/>
        <a:lstStyle/>
        <a:p>
          <a:endParaRPr lang="en-IN" sz="3200"/>
        </a:p>
      </dgm:t>
    </dgm:pt>
    <dgm:pt modelId="{B6372B19-8BE4-4CFB-931F-BA534EC6A2F4}" type="sibTrans" cxnId="{B1457BE8-3BD8-463C-AEF2-16EF836DCB19}">
      <dgm:prSet custT="1"/>
      <dgm:spPr/>
      <dgm:t>
        <a:bodyPr/>
        <a:lstStyle/>
        <a:p>
          <a:endParaRPr lang="en-IN" sz="800"/>
        </a:p>
      </dgm:t>
    </dgm:pt>
    <dgm:pt modelId="{D0F2D938-D6FE-4F53-8B1C-15747E995188}">
      <dgm:prSet custT="1"/>
      <dgm:spPr/>
      <dgm:t>
        <a:bodyPr/>
        <a:lstStyle/>
        <a:p>
          <a:r>
            <a:rPr lang="en-IN" sz="900" b="0" i="0" dirty="0">
              <a:solidFill>
                <a:srgbClr val="00B050"/>
              </a:solidFill>
            </a:rPr>
            <a:t>Focus on Bests in features like returning visitor, browser-2, region-2 etc., which are generating more transactions and revenue</a:t>
          </a:r>
          <a:r>
            <a:rPr lang="en-IN" sz="900" b="0" i="0" dirty="0"/>
            <a:t>.</a:t>
          </a:r>
          <a:endParaRPr lang="en-IN" sz="900" dirty="0"/>
        </a:p>
      </dgm:t>
    </dgm:pt>
    <dgm:pt modelId="{EB7C8608-05E0-4CCD-897A-1F320FD63C9B}" type="parTrans" cxnId="{F0C9EB03-B072-4703-973E-132BF7DFBBF6}">
      <dgm:prSet/>
      <dgm:spPr/>
      <dgm:t>
        <a:bodyPr/>
        <a:lstStyle/>
        <a:p>
          <a:endParaRPr lang="en-IN" sz="3200"/>
        </a:p>
      </dgm:t>
    </dgm:pt>
    <dgm:pt modelId="{9177B987-349B-408A-AE19-7AF62D88970B}" type="sibTrans" cxnId="{F0C9EB03-B072-4703-973E-132BF7DFBBF6}">
      <dgm:prSet custT="1"/>
      <dgm:spPr/>
      <dgm:t>
        <a:bodyPr/>
        <a:lstStyle/>
        <a:p>
          <a:endParaRPr lang="en-IN" sz="800"/>
        </a:p>
      </dgm:t>
    </dgm:pt>
    <dgm:pt modelId="{DDF5A894-8D25-4892-97E1-22C7D7FDE374}">
      <dgm:prSet custT="1"/>
      <dgm:spPr/>
      <dgm:t>
        <a:bodyPr/>
        <a:lstStyle/>
        <a:p>
          <a:r>
            <a:rPr lang="en-IN" sz="900" b="0" i="0" dirty="0"/>
            <a:t>Deploy the model if possible to measure time to predict behaviour in </a:t>
          </a:r>
          <a:r>
            <a:rPr lang="en-IN" sz="900" b="0" i="0" dirty="0" err="1"/>
            <a:t>realtime</a:t>
          </a:r>
          <a:endParaRPr lang="en-IN" sz="900" dirty="0"/>
        </a:p>
      </dgm:t>
    </dgm:pt>
    <dgm:pt modelId="{73C140AA-49E8-450A-A994-39F132566F2A}" type="parTrans" cxnId="{9997B8B0-844D-4A67-917F-65AB3F856313}">
      <dgm:prSet/>
      <dgm:spPr/>
      <dgm:t>
        <a:bodyPr/>
        <a:lstStyle/>
        <a:p>
          <a:endParaRPr lang="en-IN" sz="3200"/>
        </a:p>
      </dgm:t>
    </dgm:pt>
    <dgm:pt modelId="{2E4502DA-4A1A-4F3A-BD5D-3F5BBCCB2838}" type="sibTrans" cxnId="{9997B8B0-844D-4A67-917F-65AB3F856313}">
      <dgm:prSet custT="1"/>
      <dgm:spPr/>
      <dgm:t>
        <a:bodyPr/>
        <a:lstStyle/>
        <a:p>
          <a:endParaRPr lang="en-IN" sz="800"/>
        </a:p>
      </dgm:t>
    </dgm:pt>
    <dgm:pt modelId="{B9793E40-126B-48C3-8BB9-8D9DF25A0D92}" type="pres">
      <dgm:prSet presAssocID="{F3D78DB9-3821-4321-879B-1ED6A67EE8F4}" presName="linear" presStyleCnt="0">
        <dgm:presLayoutVars>
          <dgm:dir/>
          <dgm:animLvl val="lvl"/>
          <dgm:resizeHandles val="exact"/>
        </dgm:presLayoutVars>
      </dgm:prSet>
      <dgm:spPr/>
    </dgm:pt>
    <dgm:pt modelId="{592162CF-8E2C-4BB0-900B-F89319EFFA4C}" type="pres">
      <dgm:prSet presAssocID="{F4855B48-2197-46AC-9321-FF0C0923AF22}" presName="parentLin" presStyleCnt="0"/>
      <dgm:spPr/>
    </dgm:pt>
    <dgm:pt modelId="{0AF3640D-619E-4503-AD30-BDD32A554791}" type="pres">
      <dgm:prSet presAssocID="{F4855B48-2197-46AC-9321-FF0C0923AF22}" presName="parentLeftMargin" presStyleLbl="node1" presStyleIdx="0" presStyleCnt="5"/>
      <dgm:spPr/>
    </dgm:pt>
    <dgm:pt modelId="{3C707A6E-3A98-495A-A11D-7DF60D0F754F}" type="pres">
      <dgm:prSet presAssocID="{F4855B48-2197-46AC-9321-FF0C0923AF22}" presName="parentText" presStyleLbl="node1" presStyleIdx="0" presStyleCnt="5">
        <dgm:presLayoutVars>
          <dgm:chMax val="0"/>
          <dgm:bulletEnabled val="1"/>
        </dgm:presLayoutVars>
      </dgm:prSet>
      <dgm:spPr/>
    </dgm:pt>
    <dgm:pt modelId="{693F854E-598A-4D2E-AE21-D9CBA395C336}" type="pres">
      <dgm:prSet presAssocID="{F4855B48-2197-46AC-9321-FF0C0923AF22}" presName="negativeSpace" presStyleCnt="0"/>
      <dgm:spPr/>
    </dgm:pt>
    <dgm:pt modelId="{8424DCA4-D30C-47A3-8EEC-A414D2F9C02F}" type="pres">
      <dgm:prSet presAssocID="{F4855B48-2197-46AC-9321-FF0C0923AF22}" presName="childText" presStyleLbl="conFgAcc1" presStyleIdx="0" presStyleCnt="5">
        <dgm:presLayoutVars>
          <dgm:bulletEnabled val="1"/>
        </dgm:presLayoutVars>
      </dgm:prSet>
      <dgm:spPr/>
    </dgm:pt>
    <dgm:pt modelId="{A9D2BDCE-B562-441C-8CC8-AABCADFF57BF}" type="pres">
      <dgm:prSet presAssocID="{52903281-D9B1-4961-9372-EAC74CBA8EA8}" presName="spaceBetweenRectangles" presStyleCnt="0"/>
      <dgm:spPr/>
    </dgm:pt>
    <dgm:pt modelId="{E8DF12C9-5F6B-41F4-8B0A-AB28C0BB664C}" type="pres">
      <dgm:prSet presAssocID="{571B8376-240A-4A15-9E06-307BF83FB1E6}" presName="parentLin" presStyleCnt="0"/>
      <dgm:spPr/>
    </dgm:pt>
    <dgm:pt modelId="{3A5079F9-0C8D-4021-8FE5-FB2794B2160C}" type="pres">
      <dgm:prSet presAssocID="{571B8376-240A-4A15-9E06-307BF83FB1E6}" presName="parentLeftMargin" presStyleLbl="node1" presStyleIdx="0" presStyleCnt="5"/>
      <dgm:spPr/>
    </dgm:pt>
    <dgm:pt modelId="{61908AEE-3407-443F-BE16-EDB95E89D714}" type="pres">
      <dgm:prSet presAssocID="{571B8376-240A-4A15-9E06-307BF83FB1E6}" presName="parentText" presStyleLbl="node1" presStyleIdx="1" presStyleCnt="5">
        <dgm:presLayoutVars>
          <dgm:chMax val="0"/>
          <dgm:bulletEnabled val="1"/>
        </dgm:presLayoutVars>
      </dgm:prSet>
      <dgm:spPr/>
    </dgm:pt>
    <dgm:pt modelId="{E511AF40-B4E4-44C5-9274-240E8B4C8841}" type="pres">
      <dgm:prSet presAssocID="{571B8376-240A-4A15-9E06-307BF83FB1E6}" presName="negativeSpace" presStyleCnt="0"/>
      <dgm:spPr/>
    </dgm:pt>
    <dgm:pt modelId="{78675D49-BF34-4E34-B4B5-59DFF89AA2EB}" type="pres">
      <dgm:prSet presAssocID="{571B8376-240A-4A15-9E06-307BF83FB1E6}" presName="childText" presStyleLbl="conFgAcc1" presStyleIdx="1" presStyleCnt="5">
        <dgm:presLayoutVars>
          <dgm:bulletEnabled val="1"/>
        </dgm:presLayoutVars>
      </dgm:prSet>
      <dgm:spPr/>
    </dgm:pt>
    <dgm:pt modelId="{0A603A74-0E77-480B-81F6-1937DA6831DB}" type="pres">
      <dgm:prSet presAssocID="{889E1C61-55E3-4E48-B1FC-2AAA72FA6D54}" presName="spaceBetweenRectangles" presStyleCnt="0"/>
      <dgm:spPr/>
    </dgm:pt>
    <dgm:pt modelId="{E8682F04-0DF5-4F10-A965-70C2929143F0}" type="pres">
      <dgm:prSet presAssocID="{48F4F3EE-1FEE-43A1-9785-FF188E8D65D3}" presName="parentLin" presStyleCnt="0"/>
      <dgm:spPr/>
    </dgm:pt>
    <dgm:pt modelId="{E5727500-DA71-4A7E-BF14-D8C53176F2DF}" type="pres">
      <dgm:prSet presAssocID="{48F4F3EE-1FEE-43A1-9785-FF188E8D65D3}" presName="parentLeftMargin" presStyleLbl="node1" presStyleIdx="1" presStyleCnt="5"/>
      <dgm:spPr/>
    </dgm:pt>
    <dgm:pt modelId="{1239505C-2B58-47D9-B846-2F0A02122524}" type="pres">
      <dgm:prSet presAssocID="{48F4F3EE-1FEE-43A1-9785-FF188E8D65D3}" presName="parentText" presStyleLbl="node1" presStyleIdx="2" presStyleCnt="5">
        <dgm:presLayoutVars>
          <dgm:chMax val="0"/>
          <dgm:bulletEnabled val="1"/>
        </dgm:presLayoutVars>
      </dgm:prSet>
      <dgm:spPr/>
    </dgm:pt>
    <dgm:pt modelId="{97D5D225-F41F-4535-8801-5C9C63D7F3A1}" type="pres">
      <dgm:prSet presAssocID="{48F4F3EE-1FEE-43A1-9785-FF188E8D65D3}" presName="negativeSpace" presStyleCnt="0"/>
      <dgm:spPr/>
    </dgm:pt>
    <dgm:pt modelId="{1DC18807-80DC-4A01-A56B-630F15128FCE}" type="pres">
      <dgm:prSet presAssocID="{48F4F3EE-1FEE-43A1-9785-FF188E8D65D3}" presName="childText" presStyleLbl="conFgAcc1" presStyleIdx="2" presStyleCnt="5">
        <dgm:presLayoutVars>
          <dgm:bulletEnabled val="1"/>
        </dgm:presLayoutVars>
      </dgm:prSet>
      <dgm:spPr/>
    </dgm:pt>
    <dgm:pt modelId="{04AB2924-BF99-40DD-9A00-D7F85E986664}" type="pres">
      <dgm:prSet presAssocID="{B6372B19-8BE4-4CFB-931F-BA534EC6A2F4}" presName="spaceBetweenRectangles" presStyleCnt="0"/>
      <dgm:spPr/>
    </dgm:pt>
    <dgm:pt modelId="{81FC7DB2-628D-486F-9C0E-C04EA525D825}" type="pres">
      <dgm:prSet presAssocID="{D0F2D938-D6FE-4F53-8B1C-15747E995188}" presName="parentLin" presStyleCnt="0"/>
      <dgm:spPr/>
    </dgm:pt>
    <dgm:pt modelId="{F6F564C4-83ED-48C3-8DF3-FE1B0711C211}" type="pres">
      <dgm:prSet presAssocID="{D0F2D938-D6FE-4F53-8B1C-15747E995188}" presName="parentLeftMargin" presStyleLbl="node1" presStyleIdx="2" presStyleCnt="5"/>
      <dgm:spPr/>
    </dgm:pt>
    <dgm:pt modelId="{A9270CDC-7598-46A5-A377-20EB5700469D}" type="pres">
      <dgm:prSet presAssocID="{D0F2D938-D6FE-4F53-8B1C-15747E995188}" presName="parentText" presStyleLbl="node1" presStyleIdx="3" presStyleCnt="5">
        <dgm:presLayoutVars>
          <dgm:chMax val="0"/>
          <dgm:bulletEnabled val="1"/>
        </dgm:presLayoutVars>
      </dgm:prSet>
      <dgm:spPr/>
    </dgm:pt>
    <dgm:pt modelId="{14376298-9B3A-4624-BE1C-AAA99E83BE68}" type="pres">
      <dgm:prSet presAssocID="{D0F2D938-D6FE-4F53-8B1C-15747E995188}" presName="negativeSpace" presStyleCnt="0"/>
      <dgm:spPr/>
    </dgm:pt>
    <dgm:pt modelId="{3EEF6BAC-7369-4841-9D9B-892E3DBCCCF8}" type="pres">
      <dgm:prSet presAssocID="{D0F2D938-D6FE-4F53-8B1C-15747E995188}" presName="childText" presStyleLbl="conFgAcc1" presStyleIdx="3" presStyleCnt="5">
        <dgm:presLayoutVars>
          <dgm:bulletEnabled val="1"/>
        </dgm:presLayoutVars>
      </dgm:prSet>
      <dgm:spPr/>
    </dgm:pt>
    <dgm:pt modelId="{26AAE73A-5D52-4F1B-A7C3-13EE3A13F7AA}" type="pres">
      <dgm:prSet presAssocID="{9177B987-349B-408A-AE19-7AF62D88970B}" presName="spaceBetweenRectangles" presStyleCnt="0"/>
      <dgm:spPr/>
    </dgm:pt>
    <dgm:pt modelId="{30DF3EB6-B984-4A6B-9540-007BE2F96756}" type="pres">
      <dgm:prSet presAssocID="{DDF5A894-8D25-4892-97E1-22C7D7FDE374}" presName="parentLin" presStyleCnt="0"/>
      <dgm:spPr/>
    </dgm:pt>
    <dgm:pt modelId="{B5F92B5C-F4E9-4CB6-A152-5AA641A5AB1B}" type="pres">
      <dgm:prSet presAssocID="{DDF5A894-8D25-4892-97E1-22C7D7FDE374}" presName="parentLeftMargin" presStyleLbl="node1" presStyleIdx="3" presStyleCnt="5"/>
      <dgm:spPr/>
    </dgm:pt>
    <dgm:pt modelId="{85D01B91-7A28-49F1-9A3D-EE86F98FDE31}" type="pres">
      <dgm:prSet presAssocID="{DDF5A894-8D25-4892-97E1-22C7D7FDE374}" presName="parentText" presStyleLbl="node1" presStyleIdx="4" presStyleCnt="5">
        <dgm:presLayoutVars>
          <dgm:chMax val="0"/>
          <dgm:bulletEnabled val="1"/>
        </dgm:presLayoutVars>
      </dgm:prSet>
      <dgm:spPr/>
    </dgm:pt>
    <dgm:pt modelId="{2AB3F1CC-58CA-40FB-AFEE-76B7D4655735}" type="pres">
      <dgm:prSet presAssocID="{DDF5A894-8D25-4892-97E1-22C7D7FDE374}" presName="negativeSpace" presStyleCnt="0"/>
      <dgm:spPr/>
    </dgm:pt>
    <dgm:pt modelId="{8424CBE6-F703-452D-B029-FEE723D223D3}" type="pres">
      <dgm:prSet presAssocID="{DDF5A894-8D25-4892-97E1-22C7D7FDE374}" presName="childText" presStyleLbl="conFgAcc1" presStyleIdx="4" presStyleCnt="5">
        <dgm:presLayoutVars>
          <dgm:bulletEnabled val="1"/>
        </dgm:presLayoutVars>
      </dgm:prSet>
      <dgm:spPr/>
    </dgm:pt>
  </dgm:ptLst>
  <dgm:cxnLst>
    <dgm:cxn modelId="{F0C9EB03-B072-4703-973E-132BF7DFBBF6}" srcId="{F3D78DB9-3821-4321-879B-1ED6A67EE8F4}" destId="{D0F2D938-D6FE-4F53-8B1C-15747E995188}" srcOrd="3" destOrd="0" parTransId="{EB7C8608-05E0-4CCD-897A-1F320FD63C9B}" sibTransId="{9177B987-349B-408A-AE19-7AF62D88970B}"/>
    <dgm:cxn modelId="{8C99E50A-3CE4-4670-AAFD-386542ADF461}" type="presOf" srcId="{DDF5A894-8D25-4892-97E1-22C7D7FDE374}" destId="{B5F92B5C-F4E9-4CB6-A152-5AA641A5AB1B}" srcOrd="0" destOrd="0" presId="urn:microsoft.com/office/officeart/2005/8/layout/list1"/>
    <dgm:cxn modelId="{41252A2B-3D91-44A2-8F86-77D580B0E6DE}" type="presOf" srcId="{48F4F3EE-1FEE-43A1-9785-FF188E8D65D3}" destId="{1239505C-2B58-47D9-B846-2F0A02122524}" srcOrd="1" destOrd="0" presId="urn:microsoft.com/office/officeart/2005/8/layout/list1"/>
    <dgm:cxn modelId="{E539E939-4A59-4455-AFE0-5F60CDF2900B}" srcId="{F3D78DB9-3821-4321-879B-1ED6A67EE8F4}" destId="{F4855B48-2197-46AC-9321-FF0C0923AF22}" srcOrd="0" destOrd="0" parTransId="{5AC1EE83-2B8A-494A-BD0D-AD59074511B6}" sibTransId="{52903281-D9B1-4961-9372-EAC74CBA8EA8}"/>
    <dgm:cxn modelId="{579F714D-D398-4961-825F-58B81420DF83}" type="presOf" srcId="{F4855B48-2197-46AC-9321-FF0C0923AF22}" destId="{3C707A6E-3A98-495A-A11D-7DF60D0F754F}" srcOrd="1" destOrd="0" presId="urn:microsoft.com/office/officeart/2005/8/layout/list1"/>
    <dgm:cxn modelId="{E3B7FF70-53A9-454D-A56F-913C015C7401}" type="presOf" srcId="{F4855B48-2197-46AC-9321-FF0C0923AF22}" destId="{0AF3640D-619E-4503-AD30-BDD32A554791}" srcOrd="0" destOrd="0" presId="urn:microsoft.com/office/officeart/2005/8/layout/list1"/>
    <dgm:cxn modelId="{0F426F71-1E0E-4899-9DD6-0BD920B23B38}" type="presOf" srcId="{571B8376-240A-4A15-9E06-307BF83FB1E6}" destId="{61908AEE-3407-443F-BE16-EDB95E89D714}" srcOrd="1" destOrd="0" presId="urn:microsoft.com/office/officeart/2005/8/layout/list1"/>
    <dgm:cxn modelId="{F6667783-D7EB-4C29-8E77-C3FF7846594E}" type="presOf" srcId="{D0F2D938-D6FE-4F53-8B1C-15747E995188}" destId="{A9270CDC-7598-46A5-A377-20EB5700469D}" srcOrd="1" destOrd="0" presId="urn:microsoft.com/office/officeart/2005/8/layout/list1"/>
    <dgm:cxn modelId="{709A5F8F-1D26-4BF8-A100-E783DE6D1630}" type="presOf" srcId="{F3D78DB9-3821-4321-879B-1ED6A67EE8F4}" destId="{B9793E40-126B-48C3-8BB9-8D9DF25A0D92}" srcOrd="0" destOrd="0" presId="urn:microsoft.com/office/officeart/2005/8/layout/list1"/>
    <dgm:cxn modelId="{0C1E6191-BF5F-48D2-B964-B8A53164C5A1}" type="presOf" srcId="{571B8376-240A-4A15-9E06-307BF83FB1E6}" destId="{3A5079F9-0C8D-4021-8FE5-FB2794B2160C}" srcOrd="0" destOrd="0" presId="urn:microsoft.com/office/officeart/2005/8/layout/list1"/>
    <dgm:cxn modelId="{9997B8B0-844D-4A67-917F-65AB3F856313}" srcId="{F3D78DB9-3821-4321-879B-1ED6A67EE8F4}" destId="{DDF5A894-8D25-4892-97E1-22C7D7FDE374}" srcOrd="4" destOrd="0" parTransId="{73C140AA-49E8-450A-A994-39F132566F2A}" sibTransId="{2E4502DA-4A1A-4F3A-BD5D-3F5BBCCB2838}"/>
    <dgm:cxn modelId="{5203BBB0-C71F-4E20-98BA-26334C77D478}" type="presOf" srcId="{D0F2D938-D6FE-4F53-8B1C-15747E995188}" destId="{F6F564C4-83ED-48C3-8DF3-FE1B0711C211}" srcOrd="0" destOrd="0" presId="urn:microsoft.com/office/officeart/2005/8/layout/list1"/>
    <dgm:cxn modelId="{8EEE05BF-ECBA-4624-9D7B-59712FB53F4A}" srcId="{F3D78DB9-3821-4321-879B-1ED6A67EE8F4}" destId="{571B8376-240A-4A15-9E06-307BF83FB1E6}" srcOrd="1" destOrd="0" parTransId="{01579D8B-2E6A-4BF4-9ACF-D093C6F39D3E}" sibTransId="{889E1C61-55E3-4E48-B1FC-2AAA72FA6D54}"/>
    <dgm:cxn modelId="{B1457BE8-3BD8-463C-AEF2-16EF836DCB19}" srcId="{F3D78DB9-3821-4321-879B-1ED6A67EE8F4}" destId="{48F4F3EE-1FEE-43A1-9785-FF188E8D65D3}" srcOrd="2" destOrd="0" parTransId="{47CEE159-6EDE-4830-8780-B64D04AF2AB1}" sibTransId="{B6372B19-8BE4-4CFB-931F-BA534EC6A2F4}"/>
    <dgm:cxn modelId="{6422FDEC-BEF6-443A-AEF2-80DEAF9967C2}" type="presOf" srcId="{DDF5A894-8D25-4892-97E1-22C7D7FDE374}" destId="{85D01B91-7A28-49F1-9A3D-EE86F98FDE31}" srcOrd="1" destOrd="0" presId="urn:microsoft.com/office/officeart/2005/8/layout/list1"/>
    <dgm:cxn modelId="{92D963FA-A92E-4202-9AA3-942C21A3BAD0}" type="presOf" srcId="{48F4F3EE-1FEE-43A1-9785-FF188E8D65D3}" destId="{E5727500-DA71-4A7E-BF14-D8C53176F2DF}" srcOrd="0" destOrd="0" presId="urn:microsoft.com/office/officeart/2005/8/layout/list1"/>
    <dgm:cxn modelId="{9ED85C4F-806F-42C9-A51C-9BB3EAD4914B}" type="presParOf" srcId="{B9793E40-126B-48C3-8BB9-8D9DF25A0D92}" destId="{592162CF-8E2C-4BB0-900B-F89319EFFA4C}" srcOrd="0" destOrd="0" presId="urn:microsoft.com/office/officeart/2005/8/layout/list1"/>
    <dgm:cxn modelId="{BD57EFB7-6C15-4350-A2EA-E95FD3F8764A}" type="presParOf" srcId="{592162CF-8E2C-4BB0-900B-F89319EFFA4C}" destId="{0AF3640D-619E-4503-AD30-BDD32A554791}" srcOrd="0" destOrd="0" presId="urn:microsoft.com/office/officeart/2005/8/layout/list1"/>
    <dgm:cxn modelId="{880AC14D-C5CB-4083-B511-A3451D44E0D7}" type="presParOf" srcId="{592162CF-8E2C-4BB0-900B-F89319EFFA4C}" destId="{3C707A6E-3A98-495A-A11D-7DF60D0F754F}" srcOrd="1" destOrd="0" presId="urn:microsoft.com/office/officeart/2005/8/layout/list1"/>
    <dgm:cxn modelId="{7536303F-2693-46C0-9004-1B6EECE8DC23}" type="presParOf" srcId="{B9793E40-126B-48C3-8BB9-8D9DF25A0D92}" destId="{693F854E-598A-4D2E-AE21-D9CBA395C336}" srcOrd="1" destOrd="0" presId="urn:microsoft.com/office/officeart/2005/8/layout/list1"/>
    <dgm:cxn modelId="{530F8970-1063-446A-B76C-7F534D212F66}" type="presParOf" srcId="{B9793E40-126B-48C3-8BB9-8D9DF25A0D92}" destId="{8424DCA4-D30C-47A3-8EEC-A414D2F9C02F}" srcOrd="2" destOrd="0" presId="urn:microsoft.com/office/officeart/2005/8/layout/list1"/>
    <dgm:cxn modelId="{CE23F265-7AB9-4CDB-9970-B18EE0DB5284}" type="presParOf" srcId="{B9793E40-126B-48C3-8BB9-8D9DF25A0D92}" destId="{A9D2BDCE-B562-441C-8CC8-AABCADFF57BF}" srcOrd="3" destOrd="0" presId="urn:microsoft.com/office/officeart/2005/8/layout/list1"/>
    <dgm:cxn modelId="{AA00658A-6150-42DA-B750-309D99C91695}" type="presParOf" srcId="{B9793E40-126B-48C3-8BB9-8D9DF25A0D92}" destId="{E8DF12C9-5F6B-41F4-8B0A-AB28C0BB664C}" srcOrd="4" destOrd="0" presId="urn:microsoft.com/office/officeart/2005/8/layout/list1"/>
    <dgm:cxn modelId="{2A961DA6-11DA-4F5F-8E61-A422A6F8B107}" type="presParOf" srcId="{E8DF12C9-5F6B-41F4-8B0A-AB28C0BB664C}" destId="{3A5079F9-0C8D-4021-8FE5-FB2794B2160C}" srcOrd="0" destOrd="0" presId="urn:microsoft.com/office/officeart/2005/8/layout/list1"/>
    <dgm:cxn modelId="{CF995293-BFA7-4165-8ED1-E97C2110B814}" type="presParOf" srcId="{E8DF12C9-5F6B-41F4-8B0A-AB28C0BB664C}" destId="{61908AEE-3407-443F-BE16-EDB95E89D714}" srcOrd="1" destOrd="0" presId="urn:microsoft.com/office/officeart/2005/8/layout/list1"/>
    <dgm:cxn modelId="{D9176252-B7FB-4096-A183-A29D842528D4}" type="presParOf" srcId="{B9793E40-126B-48C3-8BB9-8D9DF25A0D92}" destId="{E511AF40-B4E4-44C5-9274-240E8B4C8841}" srcOrd="5" destOrd="0" presId="urn:microsoft.com/office/officeart/2005/8/layout/list1"/>
    <dgm:cxn modelId="{1B8C2311-020C-46DE-A010-74E30DD8F15D}" type="presParOf" srcId="{B9793E40-126B-48C3-8BB9-8D9DF25A0D92}" destId="{78675D49-BF34-4E34-B4B5-59DFF89AA2EB}" srcOrd="6" destOrd="0" presId="urn:microsoft.com/office/officeart/2005/8/layout/list1"/>
    <dgm:cxn modelId="{56538DAC-2C46-4346-B9DC-BBE595938F9B}" type="presParOf" srcId="{B9793E40-126B-48C3-8BB9-8D9DF25A0D92}" destId="{0A603A74-0E77-480B-81F6-1937DA6831DB}" srcOrd="7" destOrd="0" presId="urn:microsoft.com/office/officeart/2005/8/layout/list1"/>
    <dgm:cxn modelId="{72F9207A-0A8C-4518-9C57-46DFDE445F8B}" type="presParOf" srcId="{B9793E40-126B-48C3-8BB9-8D9DF25A0D92}" destId="{E8682F04-0DF5-4F10-A965-70C2929143F0}" srcOrd="8" destOrd="0" presId="urn:microsoft.com/office/officeart/2005/8/layout/list1"/>
    <dgm:cxn modelId="{6F55EA7A-90A0-4DD6-A801-FD1B9740730E}" type="presParOf" srcId="{E8682F04-0DF5-4F10-A965-70C2929143F0}" destId="{E5727500-DA71-4A7E-BF14-D8C53176F2DF}" srcOrd="0" destOrd="0" presId="urn:microsoft.com/office/officeart/2005/8/layout/list1"/>
    <dgm:cxn modelId="{77CA2DF9-71F6-4503-BE02-DB9E85B03C7E}" type="presParOf" srcId="{E8682F04-0DF5-4F10-A965-70C2929143F0}" destId="{1239505C-2B58-47D9-B846-2F0A02122524}" srcOrd="1" destOrd="0" presId="urn:microsoft.com/office/officeart/2005/8/layout/list1"/>
    <dgm:cxn modelId="{31C9DE89-BC42-49E1-87D9-462EEAACD6BB}" type="presParOf" srcId="{B9793E40-126B-48C3-8BB9-8D9DF25A0D92}" destId="{97D5D225-F41F-4535-8801-5C9C63D7F3A1}" srcOrd="9" destOrd="0" presId="urn:microsoft.com/office/officeart/2005/8/layout/list1"/>
    <dgm:cxn modelId="{61AFE24D-EE04-449C-BBA7-5A185CACCDBC}" type="presParOf" srcId="{B9793E40-126B-48C3-8BB9-8D9DF25A0D92}" destId="{1DC18807-80DC-4A01-A56B-630F15128FCE}" srcOrd="10" destOrd="0" presId="urn:microsoft.com/office/officeart/2005/8/layout/list1"/>
    <dgm:cxn modelId="{CF15C10A-0282-4369-A09D-352C303A8A62}" type="presParOf" srcId="{B9793E40-126B-48C3-8BB9-8D9DF25A0D92}" destId="{04AB2924-BF99-40DD-9A00-D7F85E986664}" srcOrd="11" destOrd="0" presId="urn:microsoft.com/office/officeart/2005/8/layout/list1"/>
    <dgm:cxn modelId="{84F7D75F-45AC-4353-B232-9D205FAFDC3B}" type="presParOf" srcId="{B9793E40-126B-48C3-8BB9-8D9DF25A0D92}" destId="{81FC7DB2-628D-486F-9C0E-C04EA525D825}" srcOrd="12" destOrd="0" presId="urn:microsoft.com/office/officeart/2005/8/layout/list1"/>
    <dgm:cxn modelId="{1D365970-7450-44BC-8E93-DC001F15D4FF}" type="presParOf" srcId="{81FC7DB2-628D-486F-9C0E-C04EA525D825}" destId="{F6F564C4-83ED-48C3-8DF3-FE1B0711C211}" srcOrd="0" destOrd="0" presId="urn:microsoft.com/office/officeart/2005/8/layout/list1"/>
    <dgm:cxn modelId="{ACC54CCF-0888-4E5F-B49C-5A1BE6520B98}" type="presParOf" srcId="{81FC7DB2-628D-486F-9C0E-C04EA525D825}" destId="{A9270CDC-7598-46A5-A377-20EB5700469D}" srcOrd="1" destOrd="0" presId="urn:microsoft.com/office/officeart/2005/8/layout/list1"/>
    <dgm:cxn modelId="{B5AD3716-A185-4681-B480-D10CB74CB8C9}" type="presParOf" srcId="{B9793E40-126B-48C3-8BB9-8D9DF25A0D92}" destId="{14376298-9B3A-4624-BE1C-AAA99E83BE68}" srcOrd="13" destOrd="0" presId="urn:microsoft.com/office/officeart/2005/8/layout/list1"/>
    <dgm:cxn modelId="{6338F334-6A4C-4C40-B9A1-7BB90A2CD451}" type="presParOf" srcId="{B9793E40-126B-48C3-8BB9-8D9DF25A0D92}" destId="{3EEF6BAC-7369-4841-9D9B-892E3DBCCCF8}" srcOrd="14" destOrd="0" presId="urn:microsoft.com/office/officeart/2005/8/layout/list1"/>
    <dgm:cxn modelId="{3FC5B028-B220-4B3C-97B8-F02DED198DF3}" type="presParOf" srcId="{B9793E40-126B-48C3-8BB9-8D9DF25A0D92}" destId="{26AAE73A-5D52-4F1B-A7C3-13EE3A13F7AA}" srcOrd="15" destOrd="0" presId="urn:microsoft.com/office/officeart/2005/8/layout/list1"/>
    <dgm:cxn modelId="{D4E1C373-7BA5-4A51-9F58-1FC495388924}" type="presParOf" srcId="{B9793E40-126B-48C3-8BB9-8D9DF25A0D92}" destId="{30DF3EB6-B984-4A6B-9540-007BE2F96756}" srcOrd="16" destOrd="0" presId="urn:microsoft.com/office/officeart/2005/8/layout/list1"/>
    <dgm:cxn modelId="{003F8AB1-17AB-4726-B601-91AD957918F7}" type="presParOf" srcId="{30DF3EB6-B984-4A6B-9540-007BE2F96756}" destId="{B5F92B5C-F4E9-4CB6-A152-5AA641A5AB1B}" srcOrd="0" destOrd="0" presId="urn:microsoft.com/office/officeart/2005/8/layout/list1"/>
    <dgm:cxn modelId="{D79D98EB-CD4C-453E-9EF3-3EDCA3EDF7D0}" type="presParOf" srcId="{30DF3EB6-B984-4A6B-9540-007BE2F96756}" destId="{85D01B91-7A28-49F1-9A3D-EE86F98FDE31}" srcOrd="1" destOrd="0" presId="urn:microsoft.com/office/officeart/2005/8/layout/list1"/>
    <dgm:cxn modelId="{3FF2B504-3503-4037-928C-7B3F4E4102E6}" type="presParOf" srcId="{B9793E40-126B-48C3-8BB9-8D9DF25A0D92}" destId="{2AB3F1CC-58CA-40FB-AFEE-76B7D4655735}" srcOrd="17" destOrd="0" presId="urn:microsoft.com/office/officeart/2005/8/layout/list1"/>
    <dgm:cxn modelId="{23E0CAEB-8733-4DA7-B704-5F649EF2C931}" type="presParOf" srcId="{B9793E40-126B-48C3-8BB9-8D9DF25A0D92}" destId="{8424CBE6-F703-452D-B029-FEE723D223D3}"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F83CA-10AC-4841-BD02-C71753A05E6D}">
      <dsp:nvSpPr>
        <dsp:cNvPr id="0" name=""/>
        <dsp:cNvSpPr/>
      </dsp:nvSpPr>
      <dsp:spPr>
        <a:xfrm>
          <a:off x="0" y="22421"/>
          <a:ext cx="7936045" cy="1013512"/>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i="0" kern="1200"/>
            <a:t>This is the data of an online retailing company where they are trying to find which online shopper will generate revenue by his/her online shoppers’ activity on their site.</a:t>
          </a:r>
          <a:endParaRPr lang="en-IN" sz="1500" kern="1200"/>
        </a:p>
      </dsp:txBody>
      <dsp:txXfrm>
        <a:off x="49476" y="71897"/>
        <a:ext cx="7837093" cy="914560"/>
      </dsp:txXfrm>
    </dsp:sp>
    <dsp:sp modelId="{997094D2-7DB3-4DC6-B89C-74D8B46C3AF2}">
      <dsp:nvSpPr>
        <dsp:cNvPr id="0" name=""/>
        <dsp:cNvSpPr/>
      </dsp:nvSpPr>
      <dsp:spPr>
        <a:xfrm>
          <a:off x="0" y="1079134"/>
          <a:ext cx="7936045" cy="1013512"/>
        </a:xfrm>
        <a:prstGeom prst="roundRect">
          <a:avLst/>
        </a:prstGeom>
        <a:solidFill>
          <a:schemeClr val="accent2">
            <a:hueOff val="-5430629"/>
            <a:satOff val="26961"/>
            <a:lumOff val="-6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0" i="0" kern="1200"/>
            <a:t>People often spend lot of time browsing through online shopping websites, but the conversion rate into purchases is low.  Determine likelihood of purchase based on the given features in the dataset.  The dataset consists of 18 features belonging to 12,330 online transactions.</a:t>
          </a:r>
          <a:endParaRPr lang="en-IN" sz="1500" kern="1200"/>
        </a:p>
      </dsp:txBody>
      <dsp:txXfrm>
        <a:off x="49476" y="1128610"/>
        <a:ext cx="7837093" cy="914560"/>
      </dsp:txXfrm>
    </dsp:sp>
    <dsp:sp modelId="{2FEE10A4-FE35-4248-A8A1-30D74FDD2164}">
      <dsp:nvSpPr>
        <dsp:cNvPr id="0" name=""/>
        <dsp:cNvSpPr/>
      </dsp:nvSpPr>
      <dsp:spPr>
        <a:xfrm>
          <a:off x="0" y="2135846"/>
          <a:ext cx="7936045" cy="1013512"/>
        </a:xfrm>
        <a:prstGeom prst="roundRect">
          <a:avLst/>
        </a:prstGeom>
        <a:solidFill>
          <a:schemeClr val="accent2">
            <a:hueOff val="-10861258"/>
            <a:satOff val="53922"/>
            <a:lumOff val="-13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0" i="0" kern="1200"/>
            <a:t>The Objective of this project is to identify the user behaviour patterns to effectively understand features that influence n create a ML model which predicts shopping intent of website visitors to PURCHASE or NO PURCHASE.  </a:t>
          </a:r>
          <a:endParaRPr lang="en-IN" sz="1500" kern="1200"/>
        </a:p>
      </dsp:txBody>
      <dsp:txXfrm>
        <a:off x="49476" y="2185322"/>
        <a:ext cx="7837093" cy="914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9CBDA5-C346-4943-A029-19419B796AD5}">
      <dsp:nvSpPr>
        <dsp:cNvPr id="0" name=""/>
        <dsp:cNvSpPr/>
      </dsp:nvSpPr>
      <dsp:spPr>
        <a:xfrm rot="10800000">
          <a:off x="530080" y="1933"/>
          <a:ext cx="1548693" cy="559984"/>
        </a:xfrm>
        <a:prstGeom prst="homePlat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938"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b="1" i="0" kern="1200"/>
            <a:t>Output Variable : </a:t>
          </a:r>
          <a:r>
            <a:rPr lang="en-IN" sz="1100" b="0" i="0" kern="1200"/>
            <a:t>Revenue</a:t>
          </a:r>
          <a:endParaRPr lang="en-IN" sz="1100" kern="1200"/>
        </a:p>
      </dsp:txBody>
      <dsp:txXfrm rot="10800000">
        <a:off x="670076" y="1933"/>
        <a:ext cx="1408697" cy="559984"/>
      </dsp:txXfrm>
    </dsp:sp>
    <dsp:sp modelId="{D2ABAFED-8558-4E74-AB8F-E87B128C476A}">
      <dsp:nvSpPr>
        <dsp:cNvPr id="0" name=""/>
        <dsp:cNvSpPr/>
      </dsp:nvSpPr>
      <dsp:spPr>
        <a:xfrm>
          <a:off x="250088" y="1933"/>
          <a:ext cx="559984" cy="559984"/>
        </a:xfrm>
        <a:prstGeom prst="ellipse">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A93DA7-A049-4393-A0AE-01D8AA3113A1}">
      <dsp:nvSpPr>
        <dsp:cNvPr id="0" name=""/>
        <dsp:cNvSpPr/>
      </dsp:nvSpPr>
      <dsp:spPr>
        <a:xfrm rot="10800000">
          <a:off x="530080" y="729077"/>
          <a:ext cx="1548693" cy="559984"/>
        </a:xfrm>
        <a:prstGeom prst="homePlate">
          <a:avLst/>
        </a:prstGeom>
        <a:solidFill>
          <a:schemeClr val="accent2">
            <a:hueOff val="-2715314"/>
            <a:satOff val="13480"/>
            <a:lumOff val="-34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938"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b="1" i="0" kern="1200"/>
            <a:t>Datatypes : </a:t>
          </a:r>
          <a:r>
            <a:rPr lang="en-IN" sz="1100" b="0" i="0" kern="1200"/>
            <a:t>Int-7, Float – 7, Obj – 2, Bool – 2</a:t>
          </a:r>
          <a:endParaRPr lang="en-IN" sz="1100" kern="1200"/>
        </a:p>
      </dsp:txBody>
      <dsp:txXfrm rot="10800000">
        <a:off x="670076" y="729077"/>
        <a:ext cx="1408697" cy="559984"/>
      </dsp:txXfrm>
    </dsp:sp>
    <dsp:sp modelId="{D92CC248-72E8-418B-9DDF-F96B6A29BEC8}">
      <dsp:nvSpPr>
        <dsp:cNvPr id="0" name=""/>
        <dsp:cNvSpPr/>
      </dsp:nvSpPr>
      <dsp:spPr>
        <a:xfrm>
          <a:off x="250088" y="729077"/>
          <a:ext cx="559984" cy="559984"/>
        </a:xfrm>
        <a:prstGeom prst="ellipse">
          <a:avLst/>
        </a:prstGeom>
        <a:solidFill>
          <a:schemeClr val="accent2">
            <a:tint val="50000"/>
            <a:hueOff val="-2988929"/>
            <a:satOff val="9297"/>
            <a:lumOff val="1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5653B8-DE09-4F9F-9FE9-11F731A2DEC9}">
      <dsp:nvSpPr>
        <dsp:cNvPr id="0" name=""/>
        <dsp:cNvSpPr/>
      </dsp:nvSpPr>
      <dsp:spPr>
        <a:xfrm rot="10800000">
          <a:off x="530080" y="1456221"/>
          <a:ext cx="1548693" cy="559984"/>
        </a:xfrm>
        <a:prstGeom prst="homePlate">
          <a:avLst/>
        </a:prstGeom>
        <a:solidFill>
          <a:schemeClr val="accent2">
            <a:hueOff val="-5430629"/>
            <a:satOff val="26961"/>
            <a:lumOff val="-6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938"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b="0" i="0" kern="1200"/>
            <a:t>No Null Values</a:t>
          </a:r>
          <a:endParaRPr lang="en-IN" sz="1100" kern="1200"/>
        </a:p>
      </dsp:txBody>
      <dsp:txXfrm rot="10800000">
        <a:off x="670076" y="1456221"/>
        <a:ext cx="1408697" cy="559984"/>
      </dsp:txXfrm>
    </dsp:sp>
    <dsp:sp modelId="{D52C2D74-61DE-4259-A90C-461C1EB2F657}">
      <dsp:nvSpPr>
        <dsp:cNvPr id="0" name=""/>
        <dsp:cNvSpPr/>
      </dsp:nvSpPr>
      <dsp:spPr>
        <a:xfrm>
          <a:off x="250088" y="1456221"/>
          <a:ext cx="559984" cy="559984"/>
        </a:xfrm>
        <a:prstGeom prst="ellipse">
          <a:avLst/>
        </a:prstGeom>
        <a:solidFill>
          <a:schemeClr val="accent2">
            <a:tint val="50000"/>
            <a:hueOff val="-5977859"/>
            <a:satOff val="18594"/>
            <a:lumOff val="3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046C48-2496-4C83-8C90-A07C4BA55C1F}">
      <dsp:nvSpPr>
        <dsp:cNvPr id="0" name=""/>
        <dsp:cNvSpPr/>
      </dsp:nvSpPr>
      <dsp:spPr>
        <a:xfrm rot="10800000">
          <a:off x="530080" y="2183365"/>
          <a:ext cx="1548693" cy="559984"/>
        </a:xfrm>
        <a:prstGeom prst="homePlate">
          <a:avLst/>
        </a:prstGeom>
        <a:solidFill>
          <a:schemeClr val="accent2">
            <a:hueOff val="-8145943"/>
            <a:satOff val="40441"/>
            <a:lumOff val="-1044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938"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b="0" i="0" kern="1200"/>
            <a:t>No Duplicates</a:t>
          </a:r>
          <a:endParaRPr lang="en-IN" sz="1100" kern="1200"/>
        </a:p>
      </dsp:txBody>
      <dsp:txXfrm rot="10800000">
        <a:off x="670076" y="2183365"/>
        <a:ext cx="1408697" cy="559984"/>
      </dsp:txXfrm>
    </dsp:sp>
    <dsp:sp modelId="{D932CD28-55CF-4CF0-8215-20C1C937A131}">
      <dsp:nvSpPr>
        <dsp:cNvPr id="0" name=""/>
        <dsp:cNvSpPr/>
      </dsp:nvSpPr>
      <dsp:spPr>
        <a:xfrm>
          <a:off x="250088" y="2183365"/>
          <a:ext cx="559984" cy="559984"/>
        </a:xfrm>
        <a:prstGeom prst="ellipse">
          <a:avLst/>
        </a:prstGeom>
        <a:solidFill>
          <a:schemeClr val="accent2">
            <a:tint val="50000"/>
            <a:hueOff val="-8966788"/>
            <a:satOff val="27890"/>
            <a:lumOff val="5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047386-2B24-4EEA-BBC8-B4B71C86C800}">
      <dsp:nvSpPr>
        <dsp:cNvPr id="0" name=""/>
        <dsp:cNvSpPr/>
      </dsp:nvSpPr>
      <dsp:spPr>
        <a:xfrm rot="10800000">
          <a:off x="530080" y="2910509"/>
          <a:ext cx="1548693" cy="559984"/>
        </a:xfrm>
        <a:prstGeom prst="homePlate">
          <a:avLst/>
        </a:prstGeom>
        <a:solidFill>
          <a:schemeClr val="accent2">
            <a:hueOff val="-10861258"/>
            <a:satOff val="53922"/>
            <a:lumOff val="-13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938" tIns="41910" rIns="78232" bIns="41910" numCol="1" spcCol="1270" anchor="ctr" anchorCtr="0">
          <a:noAutofit/>
        </a:bodyPr>
        <a:lstStyle/>
        <a:p>
          <a:pPr marL="0" lvl="0" indent="0" algn="ctr" defTabSz="488950">
            <a:lnSpc>
              <a:spcPct val="90000"/>
            </a:lnSpc>
            <a:spcBef>
              <a:spcPct val="0"/>
            </a:spcBef>
            <a:spcAft>
              <a:spcPct val="35000"/>
            </a:spcAft>
            <a:buNone/>
          </a:pPr>
          <a:r>
            <a:rPr lang="en-IN" sz="1100" b="0" i="0" kern="1200" dirty="0"/>
            <a:t>Outliers Treatment to be done</a:t>
          </a:r>
          <a:endParaRPr lang="en-IN" sz="1100" kern="1200" dirty="0"/>
        </a:p>
      </dsp:txBody>
      <dsp:txXfrm rot="10800000">
        <a:off x="670076" y="2910509"/>
        <a:ext cx="1408697" cy="559984"/>
      </dsp:txXfrm>
    </dsp:sp>
    <dsp:sp modelId="{77AAE90B-9892-4C79-833A-D2632FB07D25}">
      <dsp:nvSpPr>
        <dsp:cNvPr id="0" name=""/>
        <dsp:cNvSpPr/>
      </dsp:nvSpPr>
      <dsp:spPr>
        <a:xfrm>
          <a:off x="250088" y="2910509"/>
          <a:ext cx="559984" cy="559984"/>
        </a:xfrm>
        <a:prstGeom prst="ellipse">
          <a:avLst/>
        </a:prstGeom>
        <a:solidFill>
          <a:schemeClr val="accent2">
            <a:tint val="50000"/>
            <a:hueOff val="-11955718"/>
            <a:satOff val="37187"/>
            <a:lumOff val="7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4DCA4-D30C-47A3-8EEC-A414D2F9C02F}">
      <dsp:nvSpPr>
        <dsp:cNvPr id="0" name=""/>
        <dsp:cNvSpPr/>
      </dsp:nvSpPr>
      <dsp:spPr>
        <a:xfrm>
          <a:off x="0" y="258541"/>
          <a:ext cx="7821618" cy="42840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707A6E-3A98-495A-A11D-7DF60D0F754F}">
      <dsp:nvSpPr>
        <dsp:cNvPr id="0" name=""/>
        <dsp:cNvSpPr/>
      </dsp:nvSpPr>
      <dsp:spPr>
        <a:xfrm>
          <a:off x="391080" y="7621"/>
          <a:ext cx="5475132" cy="5018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947" tIns="0" rIns="206947" bIns="0" numCol="1" spcCol="1270" anchor="ctr" anchorCtr="0">
          <a:noAutofit/>
        </a:bodyPr>
        <a:lstStyle/>
        <a:p>
          <a:pPr marL="0" lvl="0" indent="0" algn="l" defTabSz="400050">
            <a:lnSpc>
              <a:spcPct val="90000"/>
            </a:lnSpc>
            <a:spcBef>
              <a:spcPct val="0"/>
            </a:spcBef>
            <a:spcAft>
              <a:spcPct val="35000"/>
            </a:spcAft>
            <a:buNone/>
          </a:pPr>
          <a:r>
            <a:rPr lang="en-IN" sz="900" b="0" i="0" kern="1200" dirty="0"/>
            <a:t>As per Feature </a:t>
          </a:r>
          <a:r>
            <a:rPr lang="en-IN" sz="900" b="0" i="0" kern="1200" dirty="0" err="1"/>
            <a:t>Importances</a:t>
          </a:r>
          <a:r>
            <a:rPr lang="en-IN" sz="900" b="0" i="0" kern="1200" dirty="0"/>
            <a:t>, </a:t>
          </a:r>
          <a:r>
            <a:rPr lang="en-IN" sz="900" b="0" i="0" kern="1200" dirty="0" err="1"/>
            <a:t>PageValue</a:t>
          </a:r>
          <a:r>
            <a:rPr lang="en-IN" sz="900" b="0" i="0" kern="1200" dirty="0"/>
            <a:t> is the most important feature and pages with high average value contribute more to revenue generation. Replicate the characteristics of these pages in other pages to enhance page value</a:t>
          </a:r>
          <a:endParaRPr lang="en-IN" sz="900" kern="1200" dirty="0"/>
        </a:p>
      </dsp:txBody>
      <dsp:txXfrm>
        <a:off x="415578" y="32119"/>
        <a:ext cx="5426136" cy="452844"/>
      </dsp:txXfrm>
    </dsp:sp>
    <dsp:sp modelId="{78675D49-BF34-4E34-B4B5-59DFF89AA2EB}">
      <dsp:nvSpPr>
        <dsp:cNvPr id="0" name=""/>
        <dsp:cNvSpPr/>
      </dsp:nvSpPr>
      <dsp:spPr>
        <a:xfrm>
          <a:off x="0" y="1029661"/>
          <a:ext cx="7821618" cy="428400"/>
        </a:xfrm>
        <a:prstGeom prst="rect">
          <a:avLst/>
        </a:prstGeom>
        <a:solidFill>
          <a:schemeClr val="lt1">
            <a:alpha val="90000"/>
            <a:hueOff val="0"/>
            <a:satOff val="0"/>
            <a:lumOff val="0"/>
            <a:alphaOff val="0"/>
          </a:schemeClr>
        </a:solidFill>
        <a:ln w="25400" cap="flat" cmpd="sng" algn="ctr">
          <a:solidFill>
            <a:schemeClr val="accent2">
              <a:hueOff val="-2715314"/>
              <a:satOff val="13480"/>
              <a:lumOff val="-3481"/>
              <a:alphaOff val="0"/>
            </a:schemeClr>
          </a:solidFill>
          <a:prstDash val="solid"/>
        </a:ln>
        <a:effectLst/>
      </dsp:spPr>
      <dsp:style>
        <a:lnRef idx="2">
          <a:scrgbClr r="0" g="0" b="0"/>
        </a:lnRef>
        <a:fillRef idx="1">
          <a:scrgbClr r="0" g="0" b="0"/>
        </a:fillRef>
        <a:effectRef idx="0">
          <a:scrgbClr r="0" g="0" b="0"/>
        </a:effectRef>
        <a:fontRef idx="minor"/>
      </dsp:style>
    </dsp:sp>
    <dsp:sp modelId="{61908AEE-3407-443F-BE16-EDB95E89D714}">
      <dsp:nvSpPr>
        <dsp:cNvPr id="0" name=""/>
        <dsp:cNvSpPr/>
      </dsp:nvSpPr>
      <dsp:spPr>
        <a:xfrm>
          <a:off x="391080" y="778741"/>
          <a:ext cx="5475132" cy="501840"/>
        </a:xfrm>
        <a:prstGeom prst="roundRect">
          <a:avLst/>
        </a:prstGeom>
        <a:solidFill>
          <a:schemeClr val="accent2">
            <a:hueOff val="-2715314"/>
            <a:satOff val="13480"/>
            <a:lumOff val="-34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947" tIns="0" rIns="206947" bIns="0" numCol="1" spcCol="1270" anchor="ctr" anchorCtr="0">
          <a:noAutofit/>
        </a:bodyPr>
        <a:lstStyle/>
        <a:p>
          <a:pPr marL="0" lvl="0" indent="0" algn="l" defTabSz="400050">
            <a:lnSpc>
              <a:spcPct val="90000"/>
            </a:lnSpc>
            <a:spcBef>
              <a:spcPct val="0"/>
            </a:spcBef>
            <a:spcAft>
              <a:spcPct val="35000"/>
            </a:spcAft>
            <a:buNone/>
          </a:pPr>
          <a:r>
            <a:rPr lang="en-IN" sz="900" b="0" i="0" kern="1200"/>
            <a:t>From EDA, and survey the month of November and May has always been great for ecommerce and revenue may be due to Festival season and Summer.  We can leverage this and produce better turnouts by offering customers with holiday gifts, discounts sale, goodies etc.,</a:t>
          </a:r>
          <a:endParaRPr lang="en-IN" sz="900" kern="1200"/>
        </a:p>
      </dsp:txBody>
      <dsp:txXfrm>
        <a:off x="415578" y="803239"/>
        <a:ext cx="5426136" cy="452844"/>
      </dsp:txXfrm>
    </dsp:sp>
    <dsp:sp modelId="{1DC18807-80DC-4A01-A56B-630F15128FCE}">
      <dsp:nvSpPr>
        <dsp:cNvPr id="0" name=""/>
        <dsp:cNvSpPr/>
      </dsp:nvSpPr>
      <dsp:spPr>
        <a:xfrm>
          <a:off x="0" y="1800781"/>
          <a:ext cx="7821618" cy="428400"/>
        </a:xfrm>
        <a:prstGeom prst="rect">
          <a:avLst/>
        </a:prstGeom>
        <a:solidFill>
          <a:schemeClr val="lt1">
            <a:alpha val="90000"/>
            <a:hueOff val="0"/>
            <a:satOff val="0"/>
            <a:lumOff val="0"/>
            <a:alphaOff val="0"/>
          </a:schemeClr>
        </a:solidFill>
        <a:ln w="25400" cap="flat" cmpd="sng" algn="ctr">
          <a:solidFill>
            <a:schemeClr val="accent2">
              <a:hueOff val="-5430629"/>
              <a:satOff val="26961"/>
              <a:lumOff val="-6961"/>
              <a:alphaOff val="0"/>
            </a:schemeClr>
          </a:solidFill>
          <a:prstDash val="solid"/>
        </a:ln>
        <a:effectLst/>
      </dsp:spPr>
      <dsp:style>
        <a:lnRef idx="2">
          <a:scrgbClr r="0" g="0" b="0"/>
        </a:lnRef>
        <a:fillRef idx="1">
          <a:scrgbClr r="0" g="0" b="0"/>
        </a:fillRef>
        <a:effectRef idx="0">
          <a:scrgbClr r="0" g="0" b="0"/>
        </a:effectRef>
        <a:fontRef idx="minor"/>
      </dsp:style>
    </dsp:sp>
    <dsp:sp modelId="{1239505C-2B58-47D9-B846-2F0A02122524}">
      <dsp:nvSpPr>
        <dsp:cNvPr id="0" name=""/>
        <dsp:cNvSpPr/>
      </dsp:nvSpPr>
      <dsp:spPr>
        <a:xfrm>
          <a:off x="391080" y="1549861"/>
          <a:ext cx="5475132" cy="501840"/>
        </a:xfrm>
        <a:prstGeom prst="roundRect">
          <a:avLst/>
        </a:prstGeom>
        <a:solidFill>
          <a:schemeClr val="accent2">
            <a:hueOff val="-5430629"/>
            <a:satOff val="26961"/>
            <a:lumOff val="-6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947" tIns="0" rIns="206947" bIns="0" numCol="1" spcCol="1270" anchor="ctr" anchorCtr="0">
          <a:noAutofit/>
        </a:bodyPr>
        <a:lstStyle/>
        <a:p>
          <a:pPr marL="0" lvl="0" indent="0" algn="l" defTabSz="400050">
            <a:lnSpc>
              <a:spcPct val="90000"/>
            </a:lnSpc>
            <a:spcBef>
              <a:spcPct val="0"/>
            </a:spcBef>
            <a:spcAft>
              <a:spcPct val="35000"/>
            </a:spcAft>
            <a:buNone/>
          </a:pPr>
          <a:r>
            <a:rPr lang="en-IN" sz="900" b="0" i="0" kern="1200" dirty="0"/>
            <a:t>Identify the pages with high bounce rate, exit rates and divert traffic to other pages. Also enhance webpage content so that these parameters reduced.</a:t>
          </a:r>
          <a:endParaRPr lang="en-IN" sz="900" kern="1200" dirty="0"/>
        </a:p>
      </dsp:txBody>
      <dsp:txXfrm>
        <a:off x="415578" y="1574359"/>
        <a:ext cx="5426136" cy="452844"/>
      </dsp:txXfrm>
    </dsp:sp>
    <dsp:sp modelId="{3EEF6BAC-7369-4841-9D9B-892E3DBCCCF8}">
      <dsp:nvSpPr>
        <dsp:cNvPr id="0" name=""/>
        <dsp:cNvSpPr/>
      </dsp:nvSpPr>
      <dsp:spPr>
        <a:xfrm>
          <a:off x="0" y="2571901"/>
          <a:ext cx="7821618" cy="428400"/>
        </a:xfrm>
        <a:prstGeom prst="rect">
          <a:avLst/>
        </a:prstGeom>
        <a:solidFill>
          <a:schemeClr val="lt1">
            <a:alpha val="90000"/>
            <a:hueOff val="0"/>
            <a:satOff val="0"/>
            <a:lumOff val="0"/>
            <a:alphaOff val="0"/>
          </a:schemeClr>
        </a:solidFill>
        <a:ln w="25400" cap="flat" cmpd="sng" algn="ctr">
          <a:solidFill>
            <a:schemeClr val="accent2">
              <a:hueOff val="-8145943"/>
              <a:satOff val="40441"/>
              <a:lumOff val="-10442"/>
              <a:alphaOff val="0"/>
            </a:schemeClr>
          </a:solidFill>
          <a:prstDash val="solid"/>
        </a:ln>
        <a:effectLst/>
      </dsp:spPr>
      <dsp:style>
        <a:lnRef idx="2">
          <a:scrgbClr r="0" g="0" b="0"/>
        </a:lnRef>
        <a:fillRef idx="1">
          <a:scrgbClr r="0" g="0" b="0"/>
        </a:fillRef>
        <a:effectRef idx="0">
          <a:scrgbClr r="0" g="0" b="0"/>
        </a:effectRef>
        <a:fontRef idx="minor"/>
      </dsp:style>
    </dsp:sp>
    <dsp:sp modelId="{A9270CDC-7598-46A5-A377-20EB5700469D}">
      <dsp:nvSpPr>
        <dsp:cNvPr id="0" name=""/>
        <dsp:cNvSpPr/>
      </dsp:nvSpPr>
      <dsp:spPr>
        <a:xfrm>
          <a:off x="391080" y="2320981"/>
          <a:ext cx="5475132" cy="501840"/>
        </a:xfrm>
        <a:prstGeom prst="roundRect">
          <a:avLst/>
        </a:prstGeom>
        <a:solidFill>
          <a:schemeClr val="accent2">
            <a:hueOff val="-8145943"/>
            <a:satOff val="40441"/>
            <a:lumOff val="-1044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947" tIns="0" rIns="206947" bIns="0" numCol="1" spcCol="1270" anchor="ctr" anchorCtr="0">
          <a:noAutofit/>
        </a:bodyPr>
        <a:lstStyle/>
        <a:p>
          <a:pPr marL="0" lvl="0" indent="0" algn="l" defTabSz="400050">
            <a:lnSpc>
              <a:spcPct val="90000"/>
            </a:lnSpc>
            <a:spcBef>
              <a:spcPct val="0"/>
            </a:spcBef>
            <a:spcAft>
              <a:spcPct val="35000"/>
            </a:spcAft>
            <a:buNone/>
          </a:pPr>
          <a:r>
            <a:rPr lang="en-IN" sz="900" b="0" i="0" kern="1200" dirty="0">
              <a:solidFill>
                <a:srgbClr val="00B050"/>
              </a:solidFill>
            </a:rPr>
            <a:t>Focus on Bests in features like returning visitor, browser-2, region-2 etc., which are generating more transactions and revenue</a:t>
          </a:r>
          <a:r>
            <a:rPr lang="en-IN" sz="900" b="0" i="0" kern="1200" dirty="0"/>
            <a:t>.</a:t>
          </a:r>
          <a:endParaRPr lang="en-IN" sz="900" kern="1200" dirty="0"/>
        </a:p>
      </dsp:txBody>
      <dsp:txXfrm>
        <a:off x="415578" y="2345479"/>
        <a:ext cx="5426136" cy="452844"/>
      </dsp:txXfrm>
    </dsp:sp>
    <dsp:sp modelId="{8424CBE6-F703-452D-B029-FEE723D223D3}">
      <dsp:nvSpPr>
        <dsp:cNvPr id="0" name=""/>
        <dsp:cNvSpPr/>
      </dsp:nvSpPr>
      <dsp:spPr>
        <a:xfrm>
          <a:off x="0" y="3343022"/>
          <a:ext cx="7821618" cy="428400"/>
        </a:xfrm>
        <a:prstGeom prst="rect">
          <a:avLst/>
        </a:prstGeom>
        <a:solidFill>
          <a:schemeClr val="lt1">
            <a:alpha val="90000"/>
            <a:hueOff val="0"/>
            <a:satOff val="0"/>
            <a:lumOff val="0"/>
            <a:alphaOff val="0"/>
          </a:schemeClr>
        </a:solidFill>
        <a:ln w="25400" cap="flat" cmpd="sng" algn="ctr">
          <a:solidFill>
            <a:schemeClr val="accent2">
              <a:hueOff val="-10861258"/>
              <a:satOff val="53922"/>
              <a:lumOff val="-13922"/>
              <a:alphaOff val="0"/>
            </a:schemeClr>
          </a:solidFill>
          <a:prstDash val="solid"/>
        </a:ln>
        <a:effectLst/>
      </dsp:spPr>
      <dsp:style>
        <a:lnRef idx="2">
          <a:scrgbClr r="0" g="0" b="0"/>
        </a:lnRef>
        <a:fillRef idx="1">
          <a:scrgbClr r="0" g="0" b="0"/>
        </a:fillRef>
        <a:effectRef idx="0">
          <a:scrgbClr r="0" g="0" b="0"/>
        </a:effectRef>
        <a:fontRef idx="minor"/>
      </dsp:style>
    </dsp:sp>
    <dsp:sp modelId="{85D01B91-7A28-49F1-9A3D-EE86F98FDE31}">
      <dsp:nvSpPr>
        <dsp:cNvPr id="0" name=""/>
        <dsp:cNvSpPr/>
      </dsp:nvSpPr>
      <dsp:spPr>
        <a:xfrm>
          <a:off x="391080" y="3092102"/>
          <a:ext cx="5475132" cy="501840"/>
        </a:xfrm>
        <a:prstGeom prst="roundRect">
          <a:avLst/>
        </a:prstGeom>
        <a:solidFill>
          <a:schemeClr val="accent2">
            <a:hueOff val="-10861258"/>
            <a:satOff val="53922"/>
            <a:lumOff val="-13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947" tIns="0" rIns="206947" bIns="0" numCol="1" spcCol="1270" anchor="ctr" anchorCtr="0">
          <a:noAutofit/>
        </a:bodyPr>
        <a:lstStyle/>
        <a:p>
          <a:pPr marL="0" lvl="0" indent="0" algn="l" defTabSz="400050">
            <a:lnSpc>
              <a:spcPct val="90000"/>
            </a:lnSpc>
            <a:spcBef>
              <a:spcPct val="0"/>
            </a:spcBef>
            <a:spcAft>
              <a:spcPct val="35000"/>
            </a:spcAft>
            <a:buNone/>
          </a:pPr>
          <a:r>
            <a:rPr lang="en-IN" sz="900" b="0" i="0" kern="1200" dirty="0"/>
            <a:t>Deploy the model if possible to measure time to predict behaviour in </a:t>
          </a:r>
          <a:r>
            <a:rPr lang="en-IN" sz="900" b="0" i="0" kern="1200" dirty="0" err="1"/>
            <a:t>realtime</a:t>
          </a:r>
          <a:endParaRPr lang="en-IN" sz="900" kern="1200" dirty="0"/>
        </a:p>
      </dsp:txBody>
      <dsp:txXfrm>
        <a:off x="415578" y="3116600"/>
        <a:ext cx="5426136"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30347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8754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57759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8667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8659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6901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65841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06541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93348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40"/>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40"/>
          <p:cNvGrpSpPr/>
          <p:nvPr/>
        </p:nvGrpSpPr>
        <p:grpSpPr>
          <a:xfrm>
            <a:off x="830392" y="1191256"/>
            <a:ext cx="745763" cy="45826"/>
            <a:chOff x="4580561" y="2589004"/>
            <a:chExt cx="1064464" cy="25200"/>
          </a:xfrm>
        </p:grpSpPr>
        <p:sp>
          <p:nvSpPr>
            <p:cNvPr id="12" name="Google Shape;12;p40"/>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40"/>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40"/>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200"/>
              <a:buNone/>
              <a:defRPr sz="4200">
                <a:solidFill>
                  <a:schemeClr val="dk2"/>
                </a:solidFill>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15" name="Google Shape;15;p40"/>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6" name="Google Shape;1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41"/>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41"/>
          <p:cNvGrpSpPr/>
          <p:nvPr/>
        </p:nvGrpSpPr>
        <p:grpSpPr>
          <a:xfrm>
            <a:off x="830392" y="1191256"/>
            <a:ext cx="745763" cy="45826"/>
            <a:chOff x="4580561" y="2589004"/>
            <a:chExt cx="1064464" cy="25200"/>
          </a:xfrm>
        </p:grpSpPr>
        <p:sp>
          <p:nvSpPr>
            <p:cNvPr id="20" name="Google Shape;20;p4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41"/>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23" name="Google Shape;23;p41"/>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4" name="Google Shape;24;p41"/>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5" name="Google Shape;25;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2"/>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8" name="Google Shape;28;p42"/>
          <p:cNvGrpSpPr/>
          <p:nvPr/>
        </p:nvGrpSpPr>
        <p:grpSpPr>
          <a:xfrm>
            <a:off x="830392" y="1191256"/>
            <a:ext cx="745763" cy="45826"/>
            <a:chOff x="4580561" y="2589004"/>
            <a:chExt cx="1064464" cy="25200"/>
          </a:xfrm>
        </p:grpSpPr>
        <p:sp>
          <p:nvSpPr>
            <p:cNvPr id="29" name="Google Shape;29;p4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 name="Google Shape;31;p42"/>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32" name="Google Shape;32;p42"/>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3" name="Google Shape;33;p4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3"/>
        <p:cNvGrpSpPr/>
        <p:nvPr/>
      </p:nvGrpSpPr>
      <p:grpSpPr>
        <a:xfrm>
          <a:off x="0" y="0"/>
          <a:ext cx="0" cy="0"/>
          <a:chOff x="0" y="0"/>
          <a:chExt cx="0" cy="0"/>
        </a:xfrm>
      </p:grpSpPr>
      <p:grpSp>
        <p:nvGrpSpPr>
          <p:cNvPr id="44" name="Google Shape;44;p45"/>
          <p:cNvGrpSpPr/>
          <p:nvPr/>
        </p:nvGrpSpPr>
        <p:grpSpPr>
          <a:xfrm>
            <a:off x="830392" y="1191256"/>
            <a:ext cx="745763" cy="45826"/>
            <a:chOff x="4580561" y="2589004"/>
            <a:chExt cx="1064464" cy="25200"/>
          </a:xfrm>
        </p:grpSpPr>
        <p:sp>
          <p:nvSpPr>
            <p:cNvPr id="45" name="Google Shape;45;p4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4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45"/>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48" name="Google Shape;48;p4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4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1" name="Google Shape;51;p46"/>
          <p:cNvGrpSpPr/>
          <p:nvPr/>
        </p:nvGrpSpPr>
        <p:grpSpPr>
          <a:xfrm>
            <a:off x="830392" y="1191256"/>
            <a:ext cx="745763" cy="45826"/>
            <a:chOff x="4580561" y="2589004"/>
            <a:chExt cx="1064464" cy="25200"/>
          </a:xfrm>
        </p:grpSpPr>
        <p:sp>
          <p:nvSpPr>
            <p:cNvPr id="52" name="Google Shape;52;p4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4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4" name="Google Shape;54;p4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5" name="Google Shape;55;p4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6" name="Google Shape;56;p4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7"/>
        <p:cNvGrpSpPr/>
        <p:nvPr/>
      </p:nvGrpSpPr>
      <p:grpSpPr>
        <a:xfrm>
          <a:off x="0" y="0"/>
          <a:ext cx="0" cy="0"/>
          <a:chOff x="0" y="0"/>
          <a:chExt cx="0" cy="0"/>
        </a:xfrm>
      </p:grpSpPr>
      <p:grpSp>
        <p:nvGrpSpPr>
          <p:cNvPr id="58" name="Google Shape;58;p47"/>
          <p:cNvGrpSpPr/>
          <p:nvPr/>
        </p:nvGrpSpPr>
        <p:grpSpPr>
          <a:xfrm>
            <a:off x="830392" y="4169130"/>
            <a:ext cx="745763" cy="45826"/>
            <a:chOff x="4580561" y="2589004"/>
            <a:chExt cx="1064464" cy="25200"/>
          </a:xfrm>
        </p:grpSpPr>
        <p:sp>
          <p:nvSpPr>
            <p:cNvPr id="59" name="Google Shape;59;p4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 name="Google Shape;61;p4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2" name="Google Shape;62;p4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3"/>
        <p:cNvGrpSpPr/>
        <p:nvPr/>
      </p:nvGrpSpPr>
      <p:grpSpPr>
        <a:xfrm>
          <a:off x="0" y="0"/>
          <a:ext cx="0" cy="0"/>
          <a:chOff x="0" y="0"/>
          <a:chExt cx="0" cy="0"/>
        </a:xfrm>
      </p:grpSpPr>
      <p:sp>
        <p:nvSpPr>
          <p:cNvPr id="64" name="Google Shape;64;p4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5" name="Google Shape;65;p48"/>
          <p:cNvGrpSpPr/>
          <p:nvPr/>
        </p:nvGrpSpPr>
        <p:grpSpPr>
          <a:xfrm>
            <a:off x="830392" y="1191256"/>
            <a:ext cx="745763" cy="45826"/>
            <a:chOff x="4580561" y="2589004"/>
            <a:chExt cx="1064464" cy="25200"/>
          </a:xfrm>
        </p:grpSpPr>
        <p:sp>
          <p:nvSpPr>
            <p:cNvPr id="66" name="Google Shape;66;p4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4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8" name="Google Shape;68;p4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69" name="Google Shape;69;p4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0" name="Google Shape;70;p4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71" name="Google Shape;71;p4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2"/>
        <p:cNvGrpSpPr/>
        <p:nvPr/>
      </p:nvGrpSpPr>
      <p:grpSpPr>
        <a:xfrm>
          <a:off x="0" y="0"/>
          <a:ext cx="0" cy="0"/>
          <a:chOff x="0" y="0"/>
          <a:chExt cx="0" cy="0"/>
        </a:xfrm>
      </p:grpSpPr>
      <p:sp>
        <p:nvSpPr>
          <p:cNvPr id="73" name="Google Shape;73;p4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300"/>
              <a:buNone/>
              <a:defRPr/>
            </a:lvl1pPr>
          </a:lstStyle>
          <a:p>
            <a:endParaRPr/>
          </a:p>
        </p:txBody>
      </p:sp>
      <p:sp>
        <p:nvSpPr>
          <p:cNvPr id="74" name="Google Shape;74;p4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5"/>
        <p:cNvGrpSpPr/>
        <p:nvPr/>
      </p:nvGrpSpPr>
      <p:grpSpPr>
        <a:xfrm>
          <a:off x="0" y="0"/>
          <a:ext cx="0" cy="0"/>
          <a:chOff x="0" y="0"/>
          <a:chExt cx="0" cy="0"/>
        </a:xfrm>
      </p:grpSpPr>
      <p:grpSp>
        <p:nvGrpSpPr>
          <p:cNvPr id="76" name="Google Shape;76;p50"/>
          <p:cNvGrpSpPr/>
          <p:nvPr/>
        </p:nvGrpSpPr>
        <p:grpSpPr>
          <a:xfrm>
            <a:off x="830392" y="4169130"/>
            <a:ext cx="745763" cy="45826"/>
            <a:chOff x="4580561" y="2589004"/>
            <a:chExt cx="1064464" cy="25200"/>
          </a:xfrm>
        </p:grpSpPr>
        <p:sp>
          <p:nvSpPr>
            <p:cNvPr id="77" name="Google Shape;77;p5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5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9" name="Google Shape;79;p5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5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1600"/>
              </a:spcBef>
              <a:spcAft>
                <a:spcPts val="0"/>
              </a:spcAft>
              <a:buClr>
                <a:schemeClr val="lt1"/>
              </a:buClr>
              <a:buSzPts val="1100"/>
              <a:buChar char="○"/>
              <a:defRPr>
                <a:solidFill>
                  <a:schemeClr val="lt1"/>
                </a:solidFill>
              </a:defRPr>
            </a:lvl2pPr>
            <a:lvl3pPr marL="1371600" lvl="2" indent="-298450" algn="l">
              <a:lnSpc>
                <a:spcPct val="115000"/>
              </a:lnSpc>
              <a:spcBef>
                <a:spcPts val="1600"/>
              </a:spcBef>
              <a:spcAft>
                <a:spcPts val="0"/>
              </a:spcAft>
              <a:buClr>
                <a:schemeClr val="lt1"/>
              </a:buClr>
              <a:buSzPts val="1100"/>
              <a:buChar char="■"/>
              <a:defRPr>
                <a:solidFill>
                  <a:schemeClr val="lt1"/>
                </a:solidFill>
              </a:defRPr>
            </a:lvl3pPr>
            <a:lvl4pPr marL="1828800" lvl="3" indent="-298450" algn="l">
              <a:lnSpc>
                <a:spcPct val="115000"/>
              </a:lnSpc>
              <a:spcBef>
                <a:spcPts val="1600"/>
              </a:spcBef>
              <a:spcAft>
                <a:spcPts val="0"/>
              </a:spcAft>
              <a:buClr>
                <a:schemeClr val="lt1"/>
              </a:buClr>
              <a:buSzPts val="1100"/>
              <a:buChar char="●"/>
              <a:defRPr>
                <a:solidFill>
                  <a:schemeClr val="lt1"/>
                </a:solidFill>
              </a:defRPr>
            </a:lvl4pPr>
            <a:lvl5pPr marL="2286000" lvl="4" indent="-298450" algn="l">
              <a:lnSpc>
                <a:spcPct val="115000"/>
              </a:lnSpc>
              <a:spcBef>
                <a:spcPts val="1600"/>
              </a:spcBef>
              <a:spcAft>
                <a:spcPts val="0"/>
              </a:spcAft>
              <a:buClr>
                <a:schemeClr val="lt1"/>
              </a:buClr>
              <a:buSzPts val="1100"/>
              <a:buChar char="○"/>
              <a:defRPr>
                <a:solidFill>
                  <a:schemeClr val="lt1"/>
                </a:solidFill>
              </a:defRPr>
            </a:lvl5pPr>
            <a:lvl6pPr marL="2743200" lvl="5" indent="-298450" algn="l">
              <a:lnSpc>
                <a:spcPct val="115000"/>
              </a:lnSpc>
              <a:spcBef>
                <a:spcPts val="1600"/>
              </a:spcBef>
              <a:spcAft>
                <a:spcPts val="0"/>
              </a:spcAft>
              <a:buClr>
                <a:schemeClr val="lt1"/>
              </a:buClr>
              <a:buSzPts val="1100"/>
              <a:buChar char="■"/>
              <a:defRPr>
                <a:solidFill>
                  <a:schemeClr val="lt1"/>
                </a:solidFill>
              </a:defRPr>
            </a:lvl6pPr>
            <a:lvl7pPr marL="3200400" lvl="6" indent="-298450" algn="l">
              <a:lnSpc>
                <a:spcPct val="115000"/>
              </a:lnSpc>
              <a:spcBef>
                <a:spcPts val="1600"/>
              </a:spcBef>
              <a:spcAft>
                <a:spcPts val="0"/>
              </a:spcAft>
              <a:buClr>
                <a:schemeClr val="lt1"/>
              </a:buClr>
              <a:buSzPts val="1100"/>
              <a:buChar char="●"/>
              <a:defRPr>
                <a:solidFill>
                  <a:schemeClr val="lt1"/>
                </a:solidFill>
              </a:defRPr>
            </a:lvl7pPr>
            <a:lvl8pPr marL="3657600" lvl="7" indent="-298450" algn="l">
              <a:lnSpc>
                <a:spcPct val="115000"/>
              </a:lnSpc>
              <a:spcBef>
                <a:spcPts val="1600"/>
              </a:spcBef>
              <a:spcAft>
                <a:spcPts val="0"/>
              </a:spcAft>
              <a:buClr>
                <a:schemeClr val="lt1"/>
              </a:buClr>
              <a:buSzPts val="1100"/>
              <a:buChar char="○"/>
              <a:defRPr>
                <a:solidFill>
                  <a:schemeClr val="lt1"/>
                </a:solidFill>
              </a:defRPr>
            </a:lvl8pPr>
            <a:lvl9pPr marL="4114800" lvl="8" indent="-298450" algn="l">
              <a:lnSpc>
                <a:spcPct val="115000"/>
              </a:lnSpc>
              <a:spcBef>
                <a:spcPts val="1600"/>
              </a:spcBef>
              <a:spcAft>
                <a:spcPts val="1600"/>
              </a:spcAft>
              <a:buClr>
                <a:schemeClr val="lt1"/>
              </a:buClr>
              <a:buSzPts val="1100"/>
              <a:buChar char="■"/>
              <a:defRPr>
                <a:solidFill>
                  <a:schemeClr val="lt1"/>
                </a:solidFill>
              </a:defRPr>
            </a:lvl9pPr>
          </a:lstStyle>
          <a:p>
            <a:endParaRPr/>
          </a:p>
        </p:txBody>
      </p:sp>
      <p:sp>
        <p:nvSpPr>
          <p:cNvPr id="81" name="Google Shape;81;p5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endParaRPr/>
          </a:p>
        </p:txBody>
      </p:sp>
      <p:sp>
        <p:nvSpPr>
          <p:cNvPr id="7" name="Google Shape;7;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1600"/>
              </a:spcBef>
              <a:spcAft>
                <a:spcPts val="160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r>
              <a:rPr lang="en-IN" dirty="0"/>
              <a:t>Online shoppers Intentions</a:t>
            </a:r>
            <a:br>
              <a:rPr lang="en-IN" dirty="0"/>
            </a:br>
            <a:r>
              <a:rPr lang="en-IN" sz="2800" dirty="0">
                <a:solidFill>
                  <a:srgbClr val="0070C0"/>
                </a:solidFill>
              </a:rPr>
              <a:t>ML PROJECT</a:t>
            </a:r>
            <a:endParaRPr sz="2800" dirty="0">
              <a:solidFill>
                <a:srgbClr val="0070C0"/>
              </a:solidFill>
            </a:endParaRPr>
          </a:p>
        </p:txBody>
      </p:sp>
      <p:sp>
        <p:nvSpPr>
          <p:cNvPr id="87" name="Google Shape;87;p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600"/>
              <a:buNone/>
            </a:pPr>
            <a:r>
              <a:rPr lang="en-IN" dirty="0"/>
              <a:t>- Venu Gopal Rao </a:t>
            </a:r>
            <a:r>
              <a:rPr lang="en-IN" dirty="0" err="1"/>
              <a:t>Pendyala</a:t>
            </a:r>
            <a:endParaRPr lang="en-IN" dirty="0"/>
          </a:p>
          <a:p>
            <a:pPr marL="0" lvl="0" indent="0" algn="r" rtl="0">
              <a:lnSpc>
                <a:spcPct val="100000"/>
              </a:lnSpc>
              <a:spcBef>
                <a:spcPts val="0"/>
              </a:spcBef>
              <a:spcAft>
                <a:spcPts val="0"/>
              </a:spcAft>
              <a:buSzPts val="1600"/>
              <a:buNone/>
            </a:pPr>
            <a:r>
              <a:rPr lang="en-IN" dirty="0"/>
              <a:t>Batch Code: l87st2</a:t>
            </a:r>
            <a:endParaRPr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650869" y="546931"/>
            <a:ext cx="76884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solidFill>
                  <a:srgbClr val="00B050"/>
                </a:solidFill>
              </a:rPr>
              <a:t>Problem Statement - Objective</a:t>
            </a:r>
            <a:endParaRPr dirty="0">
              <a:solidFill>
                <a:srgbClr val="00B050"/>
              </a:solidFill>
            </a:endParaRPr>
          </a:p>
        </p:txBody>
      </p:sp>
      <p:graphicFrame>
        <p:nvGraphicFramePr>
          <p:cNvPr id="2" name="Diagram 1">
            <a:extLst>
              <a:ext uri="{FF2B5EF4-FFF2-40B4-BE49-F238E27FC236}">
                <a16:creationId xmlns:a16="http://schemas.microsoft.com/office/drawing/2014/main" id="{0192E7B1-335A-5C7A-D3F7-C49E1A55CD7E}"/>
              </a:ext>
            </a:extLst>
          </p:cNvPr>
          <p:cNvGraphicFramePr/>
          <p:nvPr>
            <p:extLst>
              <p:ext uri="{D42A27DB-BD31-4B8C-83A1-F6EECF244321}">
                <p14:modId xmlns:p14="http://schemas.microsoft.com/office/powerpoint/2010/main" val="834032499"/>
              </p:ext>
            </p:extLst>
          </p:nvPr>
        </p:nvGraphicFramePr>
        <p:xfrm>
          <a:off x="500724" y="1364499"/>
          <a:ext cx="7936045" cy="31717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077D9BC-96D6-B27C-8A7A-6A9401934111}"/>
              </a:ext>
            </a:extLst>
          </p:cNvPr>
          <p:cNvGraphicFramePr>
            <a:graphicFrameLocks noGrp="1"/>
          </p:cNvGraphicFramePr>
          <p:nvPr>
            <p:extLst>
              <p:ext uri="{D42A27DB-BD31-4B8C-83A1-F6EECF244321}">
                <p14:modId xmlns:p14="http://schemas.microsoft.com/office/powerpoint/2010/main" val="4173120159"/>
              </p:ext>
            </p:extLst>
          </p:nvPr>
        </p:nvGraphicFramePr>
        <p:xfrm>
          <a:off x="2836069" y="507207"/>
          <a:ext cx="5750718" cy="4335116"/>
        </p:xfrm>
        <a:graphic>
          <a:graphicData uri="http://schemas.openxmlformats.org/drawingml/2006/table">
            <a:tbl>
              <a:tblPr/>
              <a:tblGrid>
                <a:gridCol w="1757524">
                  <a:extLst>
                    <a:ext uri="{9D8B030D-6E8A-4147-A177-3AD203B41FA5}">
                      <a16:colId xmlns:a16="http://schemas.microsoft.com/office/drawing/2014/main" val="3182224538"/>
                    </a:ext>
                  </a:extLst>
                </a:gridCol>
                <a:gridCol w="2739668">
                  <a:extLst>
                    <a:ext uri="{9D8B030D-6E8A-4147-A177-3AD203B41FA5}">
                      <a16:colId xmlns:a16="http://schemas.microsoft.com/office/drawing/2014/main" val="3206587478"/>
                    </a:ext>
                  </a:extLst>
                </a:gridCol>
                <a:gridCol w="1253526">
                  <a:extLst>
                    <a:ext uri="{9D8B030D-6E8A-4147-A177-3AD203B41FA5}">
                      <a16:colId xmlns:a16="http://schemas.microsoft.com/office/drawing/2014/main" val="2696769775"/>
                    </a:ext>
                  </a:extLst>
                </a:gridCol>
              </a:tblGrid>
              <a:tr h="292405">
                <a:tc>
                  <a:txBody>
                    <a:bodyPr/>
                    <a:lstStyle/>
                    <a:p>
                      <a:pPr algn="ctr" fontAlgn="ctr"/>
                      <a:r>
                        <a:rPr lang="en-IN" sz="800" b="1" i="0" u="none" strike="noStrike">
                          <a:solidFill>
                            <a:srgbClr val="000000"/>
                          </a:solidFill>
                          <a:effectLst/>
                          <a:latin typeface="Calibri" panose="020F0502020204030204" pitchFamily="34" charset="0"/>
                        </a:rPr>
                        <a:t>Features</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IN" sz="800" b="1" i="0" u="none" strike="noStrike">
                          <a:solidFill>
                            <a:srgbClr val="000000"/>
                          </a:solidFill>
                          <a:effectLst/>
                          <a:latin typeface="Calibri" panose="020F0502020204030204" pitchFamily="34" charset="0"/>
                        </a:rPr>
                        <a:t>Description</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IN" sz="800" b="1" i="0" u="none" strike="noStrike">
                          <a:solidFill>
                            <a:srgbClr val="000000"/>
                          </a:solidFill>
                          <a:effectLst/>
                          <a:latin typeface="Calibri" panose="020F0502020204030204" pitchFamily="34" charset="0"/>
                        </a:rPr>
                        <a:t>DataType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14385829"/>
                  </a:ext>
                </a:extLst>
              </a:tr>
              <a:tr h="279934">
                <a:tc>
                  <a:txBody>
                    <a:bodyPr/>
                    <a:lstStyle/>
                    <a:p>
                      <a:pPr algn="ctr" fontAlgn="ctr"/>
                      <a:r>
                        <a:rPr lang="en-IN" sz="900" b="1" i="0" u="none" strike="noStrike" dirty="0">
                          <a:solidFill>
                            <a:srgbClr val="000000"/>
                          </a:solidFill>
                          <a:effectLst/>
                          <a:latin typeface="Calibri" panose="020F0502020204030204" pitchFamily="34" charset="0"/>
                        </a:rPr>
                        <a:t>Administrative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Number of the pages </a:t>
                      </a:r>
                      <a:r>
                        <a:rPr lang="en-GB" sz="800" b="0" i="0" u="none" strike="noStrike" dirty="0" err="1">
                          <a:solidFill>
                            <a:srgbClr val="000000"/>
                          </a:solidFill>
                          <a:effectLst/>
                          <a:latin typeface="Calibri" panose="020F0502020204030204" pitchFamily="34" charset="0"/>
                        </a:rPr>
                        <a:t>visites</a:t>
                      </a:r>
                      <a:r>
                        <a:rPr lang="en-GB" sz="800" b="0" i="0" u="none" strike="noStrike" dirty="0">
                          <a:solidFill>
                            <a:srgbClr val="000000"/>
                          </a:solidFill>
                          <a:effectLst/>
                          <a:latin typeface="Calibri" panose="020F0502020204030204" pitchFamily="34" charset="0"/>
                        </a:rPr>
                        <a:t> by the user for user account management related activities</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0 to 27</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9992427"/>
                  </a:ext>
                </a:extLst>
              </a:tr>
              <a:tr h="279934">
                <a:tc>
                  <a:txBody>
                    <a:bodyPr/>
                    <a:lstStyle/>
                    <a:p>
                      <a:pPr algn="ctr" fontAlgn="ctr"/>
                      <a:r>
                        <a:rPr lang="en-IN" sz="900" b="1" i="0" u="none" strike="noStrike" dirty="0" err="1">
                          <a:solidFill>
                            <a:srgbClr val="000000"/>
                          </a:solidFill>
                          <a:effectLst/>
                          <a:latin typeface="Calibri" panose="020F0502020204030204" pitchFamily="34" charset="0"/>
                        </a:rPr>
                        <a:t>Administrative_Duration</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Time spent on </a:t>
                      </a:r>
                      <a:r>
                        <a:rPr lang="en-GB" sz="800" b="0" i="0" u="none" strike="noStrike" dirty="0" err="1">
                          <a:solidFill>
                            <a:srgbClr val="000000"/>
                          </a:solidFill>
                          <a:effectLst/>
                          <a:latin typeface="Calibri" panose="020F0502020204030204" pitchFamily="34" charset="0"/>
                        </a:rPr>
                        <a:t>admn</a:t>
                      </a:r>
                      <a:r>
                        <a:rPr lang="en-GB" sz="800" b="0" i="0" u="none" strike="noStrike" dirty="0">
                          <a:solidFill>
                            <a:srgbClr val="000000"/>
                          </a:solidFill>
                          <a:effectLst/>
                          <a:latin typeface="Calibri" panose="020F0502020204030204" pitchFamily="34" charset="0"/>
                        </a:rPr>
                        <a:t> page by user </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continuous value of time in seconds</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6428090"/>
                  </a:ext>
                </a:extLst>
              </a:tr>
              <a:tr h="222785">
                <a:tc>
                  <a:txBody>
                    <a:bodyPr/>
                    <a:lstStyle/>
                    <a:p>
                      <a:pPr algn="ctr" fontAlgn="ctr"/>
                      <a:r>
                        <a:rPr lang="en-IN" sz="900" b="1" i="0" u="none" strike="noStrike" dirty="0">
                          <a:solidFill>
                            <a:srgbClr val="000000"/>
                          </a:solidFill>
                          <a:effectLst/>
                          <a:latin typeface="Calibri" panose="020F0502020204030204" pitchFamily="34" charset="0"/>
                        </a:rPr>
                        <a:t>Informational</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Number of pages </a:t>
                      </a:r>
                      <a:r>
                        <a:rPr lang="en-GB" sz="800" b="0" i="0" u="none" strike="noStrike" dirty="0" err="1">
                          <a:solidFill>
                            <a:srgbClr val="000000"/>
                          </a:solidFill>
                          <a:effectLst/>
                          <a:latin typeface="Calibri" panose="020F0502020204030204" pitchFamily="34" charset="0"/>
                        </a:rPr>
                        <a:t>visites</a:t>
                      </a:r>
                      <a:r>
                        <a:rPr lang="en-GB" sz="800" b="0" i="0" u="none" strike="noStrike" dirty="0">
                          <a:solidFill>
                            <a:srgbClr val="000000"/>
                          </a:solidFill>
                          <a:effectLst/>
                          <a:latin typeface="Calibri" panose="020F0502020204030204" pitchFamily="34" charset="0"/>
                        </a:rPr>
                        <a:t> by user for information</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0 to 24</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8592196"/>
                  </a:ext>
                </a:extLst>
              </a:tr>
              <a:tr h="279934">
                <a:tc>
                  <a:txBody>
                    <a:bodyPr/>
                    <a:lstStyle/>
                    <a:p>
                      <a:pPr algn="ctr" fontAlgn="ctr"/>
                      <a:r>
                        <a:rPr lang="en-IN" sz="900" b="1" i="0" u="none" strike="noStrike" dirty="0" err="1">
                          <a:solidFill>
                            <a:srgbClr val="000000"/>
                          </a:solidFill>
                          <a:effectLst/>
                          <a:latin typeface="Calibri" panose="020F0502020204030204" pitchFamily="34" charset="0"/>
                        </a:rPr>
                        <a:t>Informational_Duration</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Time spent on informational page by user </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continuous value of time in seconds</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5446334"/>
                  </a:ext>
                </a:extLst>
              </a:tr>
              <a:tr h="222785">
                <a:tc>
                  <a:txBody>
                    <a:bodyPr/>
                    <a:lstStyle/>
                    <a:p>
                      <a:pPr algn="ctr" fontAlgn="ctr"/>
                      <a:r>
                        <a:rPr lang="en-IN" sz="900" b="1" i="0" u="none" strike="noStrike" dirty="0" err="1">
                          <a:solidFill>
                            <a:srgbClr val="000000"/>
                          </a:solidFill>
                          <a:effectLst/>
                          <a:latin typeface="Calibri" panose="020F0502020204030204" pitchFamily="34" charset="0"/>
                        </a:rPr>
                        <a:t>ProductRelated</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Number of product related visited by the user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0 to 705</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4546057"/>
                  </a:ext>
                </a:extLst>
              </a:tr>
              <a:tr h="279934">
                <a:tc>
                  <a:txBody>
                    <a:bodyPr/>
                    <a:lstStyle/>
                    <a:p>
                      <a:pPr algn="ctr" fontAlgn="ctr"/>
                      <a:r>
                        <a:rPr lang="en-IN" sz="900" b="1" i="0" u="none" strike="noStrike" dirty="0" err="1">
                          <a:solidFill>
                            <a:srgbClr val="000000"/>
                          </a:solidFill>
                          <a:effectLst/>
                          <a:latin typeface="Calibri" panose="020F0502020204030204" pitchFamily="34" charset="0"/>
                        </a:rPr>
                        <a:t>ProductRelated_Duration</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Time spent on </a:t>
                      </a:r>
                      <a:r>
                        <a:rPr lang="en-GB" sz="800" b="0" i="0" u="none" strike="noStrike" dirty="0" err="1">
                          <a:solidFill>
                            <a:srgbClr val="000000"/>
                          </a:solidFill>
                          <a:effectLst/>
                          <a:latin typeface="Calibri" panose="020F0502020204030204" pitchFamily="34" charset="0"/>
                        </a:rPr>
                        <a:t>productrelated</a:t>
                      </a:r>
                      <a:r>
                        <a:rPr lang="en-GB" sz="800" b="0" i="0" u="none" strike="noStrike" dirty="0">
                          <a:solidFill>
                            <a:srgbClr val="000000"/>
                          </a:solidFill>
                          <a:effectLst/>
                          <a:latin typeface="Calibri" panose="020F0502020204030204" pitchFamily="34" charset="0"/>
                        </a:rPr>
                        <a:t> pages by user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a:solidFill>
                            <a:srgbClr val="000000"/>
                          </a:solidFill>
                          <a:effectLst/>
                          <a:latin typeface="Calibri" panose="020F0502020204030204" pitchFamily="34" charset="0"/>
                        </a:rPr>
                        <a:t>continuous value of time in seconds</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9838030"/>
                  </a:ext>
                </a:extLst>
              </a:tr>
              <a:tr h="222785">
                <a:tc>
                  <a:txBody>
                    <a:bodyPr/>
                    <a:lstStyle/>
                    <a:p>
                      <a:pPr algn="ctr" fontAlgn="ctr"/>
                      <a:r>
                        <a:rPr lang="en-IN" sz="900" b="1" i="0" u="none" strike="noStrike" dirty="0" err="1">
                          <a:solidFill>
                            <a:srgbClr val="000000"/>
                          </a:solidFill>
                          <a:effectLst/>
                          <a:latin typeface="Calibri" panose="020F0502020204030204" pitchFamily="34" charset="0"/>
                        </a:rPr>
                        <a:t>BounceRates</a:t>
                      </a:r>
                      <a:r>
                        <a:rPr lang="en-IN" sz="900" b="1" i="0" u="none" strike="noStrike" dirty="0">
                          <a:solidFill>
                            <a:srgbClr val="000000"/>
                          </a:solidFill>
                          <a:effectLst/>
                          <a:latin typeface="Calibri" panose="020F0502020204030204" pitchFamily="34" charset="0"/>
                        </a:rPr>
                        <a:t> in %</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Average bounce rate of the pages visited by the user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continuous value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2406585"/>
                  </a:ext>
                </a:extLst>
              </a:tr>
              <a:tr h="222785">
                <a:tc>
                  <a:txBody>
                    <a:bodyPr/>
                    <a:lstStyle/>
                    <a:p>
                      <a:pPr algn="ctr" fontAlgn="ctr"/>
                      <a:r>
                        <a:rPr lang="en-IN" sz="900" b="1" i="0" u="none" strike="noStrike" dirty="0" err="1">
                          <a:solidFill>
                            <a:srgbClr val="000000"/>
                          </a:solidFill>
                          <a:effectLst/>
                          <a:latin typeface="Calibri" panose="020F0502020204030204" pitchFamily="34" charset="0"/>
                        </a:rPr>
                        <a:t>ExitRates</a:t>
                      </a:r>
                      <a:r>
                        <a:rPr lang="en-IN" sz="900" b="1" i="0" u="none" strike="noStrike" dirty="0">
                          <a:solidFill>
                            <a:srgbClr val="000000"/>
                          </a:solidFill>
                          <a:effectLst/>
                          <a:latin typeface="Calibri" panose="020F0502020204030204" pitchFamily="34" charset="0"/>
                        </a:rPr>
                        <a:t> in %</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Average exit rates of the pages visited by the user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continuous value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6886827"/>
                  </a:ext>
                </a:extLst>
              </a:tr>
              <a:tr h="222785">
                <a:tc>
                  <a:txBody>
                    <a:bodyPr/>
                    <a:lstStyle/>
                    <a:p>
                      <a:pPr algn="ctr" fontAlgn="ctr"/>
                      <a:r>
                        <a:rPr lang="en-IN" sz="900" b="1" i="0" u="none" strike="noStrike" dirty="0" err="1">
                          <a:solidFill>
                            <a:srgbClr val="000000"/>
                          </a:solidFill>
                          <a:effectLst/>
                          <a:latin typeface="Calibri" panose="020F0502020204030204" pitchFamily="34" charset="0"/>
                        </a:rPr>
                        <a:t>PageValues</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Average page value of the pages visited by the user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continuous value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9789928"/>
                  </a:ext>
                </a:extLst>
              </a:tr>
              <a:tr h="279934">
                <a:tc>
                  <a:txBody>
                    <a:bodyPr/>
                    <a:lstStyle/>
                    <a:p>
                      <a:pPr algn="ctr" fontAlgn="ctr"/>
                      <a:r>
                        <a:rPr lang="en-IN" sz="900" b="1" i="0" u="none" strike="noStrike" dirty="0" err="1">
                          <a:solidFill>
                            <a:srgbClr val="000000"/>
                          </a:solidFill>
                          <a:effectLst/>
                          <a:latin typeface="Calibri" panose="020F0502020204030204" pitchFamily="34" charset="0"/>
                        </a:rPr>
                        <a:t>SpecialDay</a:t>
                      </a:r>
                      <a:r>
                        <a:rPr lang="en-IN" sz="900" b="1" i="0" u="none" strike="noStrike" dirty="0">
                          <a:solidFill>
                            <a:srgbClr val="000000"/>
                          </a:solidFill>
                          <a:effectLst/>
                          <a:latin typeface="Calibri" panose="020F0502020204030204" pitchFamily="34" charset="0"/>
                        </a:rPr>
                        <a:t> (probability)</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special event days like  mothers day, valentine day etc.,</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Discrete values 0.2, 0.4, 0.6, 0.8, 1.0</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744159"/>
                  </a:ext>
                </a:extLst>
              </a:tr>
              <a:tr h="159494">
                <a:tc>
                  <a:txBody>
                    <a:bodyPr/>
                    <a:lstStyle/>
                    <a:p>
                      <a:pPr algn="ctr" fontAlgn="ctr"/>
                      <a:r>
                        <a:rPr lang="en-IN" sz="900" b="1" i="0" u="none" strike="noStrike" dirty="0">
                          <a:solidFill>
                            <a:srgbClr val="000000"/>
                          </a:solidFill>
                          <a:effectLst/>
                          <a:latin typeface="Calibri" panose="020F0502020204030204" pitchFamily="34" charset="0"/>
                        </a:rPr>
                        <a:t>Month</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Month of the visit from Jan to Dec of the year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Categorical</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6681391"/>
                  </a:ext>
                </a:extLst>
              </a:tr>
              <a:tr h="222785">
                <a:tc>
                  <a:txBody>
                    <a:bodyPr/>
                    <a:lstStyle/>
                    <a:p>
                      <a:pPr algn="ctr" fontAlgn="ctr"/>
                      <a:r>
                        <a:rPr lang="en-IN" sz="900" b="1" i="0" u="none" strike="noStrike" dirty="0" err="1">
                          <a:solidFill>
                            <a:srgbClr val="000000"/>
                          </a:solidFill>
                          <a:effectLst/>
                          <a:latin typeface="Calibri" panose="020F0502020204030204" pitchFamily="34" charset="0"/>
                        </a:rPr>
                        <a:t>OperatingSystems</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Operating systems used by visited users in their systems</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1 to 8</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5456878"/>
                  </a:ext>
                </a:extLst>
              </a:tr>
              <a:tr h="222785">
                <a:tc>
                  <a:txBody>
                    <a:bodyPr/>
                    <a:lstStyle/>
                    <a:p>
                      <a:pPr algn="ctr" fontAlgn="ctr"/>
                      <a:r>
                        <a:rPr lang="en-IN" sz="900" b="1" i="0" u="none" strike="noStrike" dirty="0">
                          <a:solidFill>
                            <a:srgbClr val="000000"/>
                          </a:solidFill>
                          <a:effectLst/>
                          <a:latin typeface="Calibri" panose="020F0502020204030204" pitchFamily="34" charset="0"/>
                        </a:rPr>
                        <a:t>Browser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Browser used by the user to visit the web site/shoppers site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1 to 13</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6716549"/>
                  </a:ext>
                </a:extLst>
              </a:tr>
              <a:tr h="222785">
                <a:tc>
                  <a:txBody>
                    <a:bodyPr/>
                    <a:lstStyle/>
                    <a:p>
                      <a:pPr algn="ctr" fontAlgn="ctr"/>
                      <a:r>
                        <a:rPr lang="en-IN" sz="900" b="1" i="0" u="none" strike="noStrike" dirty="0">
                          <a:solidFill>
                            <a:srgbClr val="000000"/>
                          </a:solidFill>
                          <a:effectLst/>
                          <a:latin typeface="Calibri" panose="020F0502020204030204" pitchFamily="34" charset="0"/>
                        </a:rPr>
                        <a:t>Region</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Region of the user from where they started the session</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1 to 9</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5707443"/>
                  </a:ext>
                </a:extLst>
              </a:tr>
              <a:tr h="222785">
                <a:tc>
                  <a:txBody>
                    <a:bodyPr/>
                    <a:lstStyle/>
                    <a:p>
                      <a:pPr algn="ctr" fontAlgn="ctr"/>
                      <a:r>
                        <a:rPr lang="en-IN" sz="900" b="1" i="0" u="none" strike="noStrike" dirty="0" err="1">
                          <a:solidFill>
                            <a:srgbClr val="000000"/>
                          </a:solidFill>
                          <a:effectLst/>
                          <a:latin typeface="Calibri" panose="020F0502020204030204" pitchFamily="34" charset="0"/>
                        </a:rPr>
                        <a:t>TrafficType</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Traffic source from where user entered the website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dirty="0">
                          <a:solidFill>
                            <a:srgbClr val="000000"/>
                          </a:solidFill>
                          <a:effectLst/>
                          <a:latin typeface="Calibri" panose="020F0502020204030204" pitchFamily="34" charset="0"/>
                        </a:rPr>
                        <a:t>Discrete values from 1 to 20</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5226943"/>
                  </a:ext>
                </a:extLst>
              </a:tr>
              <a:tr h="159494">
                <a:tc>
                  <a:txBody>
                    <a:bodyPr/>
                    <a:lstStyle/>
                    <a:p>
                      <a:pPr algn="ctr" fontAlgn="ctr"/>
                      <a:r>
                        <a:rPr lang="en-IN" sz="900" b="1" i="0" u="none" strike="noStrike" dirty="0" err="1">
                          <a:solidFill>
                            <a:srgbClr val="000000"/>
                          </a:solidFill>
                          <a:effectLst/>
                          <a:latin typeface="Calibri" panose="020F0502020204030204" pitchFamily="34" charset="0"/>
                        </a:rPr>
                        <a:t>VisitorType</a:t>
                      </a:r>
                      <a:endParaRPr lang="en-IN" sz="900" b="1" i="0" u="none" strike="noStrike" dirty="0">
                        <a:solidFill>
                          <a:srgbClr val="000000"/>
                        </a:solidFill>
                        <a:effectLst/>
                        <a:latin typeface="Calibri" panose="020F0502020204030204" pitchFamily="34" charset="0"/>
                      </a:endParaRP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Visitor type as new visitor or returning visitor</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Categorical</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5380050"/>
                  </a:ext>
                </a:extLst>
              </a:tr>
              <a:tr h="159494">
                <a:tc>
                  <a:txBody>
                    <a:bodyPr/>
                    <a:lstStyle/>
                    <a:p>
                      <a:pPr algn="ctr" fontAlgn="ctr"/>
                      <a:r>
                        <a:rPr lang="en-IN" sz="900" b="1" i="0" u="none" strike="noStrike" dirty="0">
                          <a:solidFill>
                            <a:srgbClr val="000000"/>
                          </a:solidFill>
                          <a:effectLst/>
                          <a:latin typeface="Calibri" panose="020F0502020204030204" pitchFamily="34" charset="0"/>
                        </a:rPr>
                        <a:t>Weekend</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If the user visited on weekend or not</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Boolean</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8903786"/>
                  </a:ext>
                </a:extLst>
              </a:tr>
              <a:tr h="159494">
                <a:tc>
                  <a:txBody>
                    <a:bodyPr/>
                    <a:lstStyle/>
                    <a:p>
                      <a:pPr algn="ctr" fontAlgn="ctr"/>
                      <a:r>
                        <a:rPr lang="en-IN" sz="900" b="1" i="0" u="none" strike="noStrike" dirty="0">
                          <a:solidFill>
                            <a:srgbClr val="000000"/>
                          </a:solidFill>
                          <a:effectLst/>
                          <a:latin typeface="Calibri" panose="020F0502020204030204" pitchFamily="34" charset="0"/>
                        </a:rPr>
                        <a:t>Revenue</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GB" sz="800" b="0" i="0" u="none" strike="noStrike" dirty="0">
                          <a:solidFill>
                            <a:srgbClr val="000000"/>
                          </a:solidFill>
                          <a:effectLst/>
                          <a:latin typeface="Calibri" panose="020F0502020204030204" pitchFamily="34" charset="0"/>
                        </a:rPr>
                        <a:t>If the user revenue generated or not</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800" b="0" i="0" u="none" strike="noStrike" dirty="0">
                          <a:solidFill>
                            <a:srgbClr val="000000"/>
                          </a:solidFill>
                          <a:effectLst/>
                          <a:latin typeface="Calibri" panose="020F0502020204030204" pitchFamily="34" charset="0"/>
                        </a:rPr>
                        <a:t>Boolean</a:t>
                      </a:r>
                    </a:p>
                  </a:txBody>
                  <a:tcPr marL="4111" marR="4111" marT="41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2318274"/>
                  </a:ext>
                </a:extLst>
              </a:tr>
            </a:tbl>
          </a:graphicData>
        </a:graphic>
      </p:graphicFrame>
      <p:sp>
        <p:nvSpPr>
          <p:cNvPr id="6" name="Google Shape;92;p2">
            <a:extLst>
              <a:ext uri="{FF2B5EF4-FFF2-40B4-BE49-F238E27FC236}">
                <a16:creationId xmlns:a16="http://schemas.microsoft.com/office/drawing/2014/main" id="{BCC08E94-DB6B-8C25-EE86-872E1E0E004F}"/>
              </a:ext>
            </a:extLst>
          </p:cNvPr>
          <p:cNvSpPr txBox="1">
            <a:spLocks noGrp="1"/>
          </p:cNvSpPr>
          <p:nvPr>
            <p:ph type="title"/>
          </p:nvPr>
        </p:nvSpPr>
        <p:spPr>
          <a:xfrm>
            <a:off x="479419" y="235744"/>
            <a:ext cx="2106619" cy="87153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solidFill>
                  <a:srgbClr val="00B050"/>
                </a:solidFill>
              </a:rPr>
              <a:t>Feature</a:t>
            </a:r>
            <a:br>
              <a:rPr lang="en" dirty="0">
                <a:solidFill>
                  <a:srgbClr val="00B050"/>
                </a:solidFill>
              </a:rPr>
            </a:br>
            <a:r>
              <a:rPr lang="en" dirty="0">
                <a:solidFill>
                  <a:srgbClr val="00B050"/>
                </a:solidFill>
              </a:rPr>
              <a:t>Analysis</a:t>
            </a:r>
            <a:endParaRPr dirty="0">
              <a:solidFill>
                <a:srgbClr val="00B050"/>
              </a:solidFill>
            </a:endParaRPr>
          </a:p>
        </p:txBody>
      </p:sp>
      <p:graphicFrame>
        <p:nvGraphicFramePr>
          <p:cNvPr id="2" name="Diagram 1">
            <a:extLst>
              <a:ext uri="{FF2B5EF4-FFF2-40B4-BE49-F238E27FC236}">
                <a16:creationId xmlns:a16="http://schemas.microsoft.com/office/drawing/2014/main" id="{EBD4FEC6-A492-DDEB-CCE3-9423DC4173C1}"/>
              </a:ext>
            </a:extLst>
          </p:cNvPr>
          <p:cNvGraphicFramePr/>
          <p:nvPr>
            <p:extLst>
              <p:ext uri="{D42A27DB-BD31-4B8C-83A1-F6EECF244321}">
                <p14:modId xmlns:p14="http://schemas.microsoft.com/office/powerpoint/2010/main" val="3199424286"/>
              </p:ext>
            </p:extLst>
          </p:nvPr>
        </p:nvGraphicFramePr>
        <p:xfrm>
          <a:off x="257176" y="1306742"/>
          <a:ext cx="2328862" cy="3472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49336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6340BB21-3416-63D3-E236-3CCB0C31AAA5}"/>
              </a:ext>
            </a:extLst>
          </p:cNvPr>
          <p:cNvGraphicFramePr>
            <a:graphicFrameLocks noGrp="1"/>
          </p:cNvGraphicFramePr>
          <p:nvPr>
            <p:extLst>
              <p:ext uri="{D42A27DB-BD31-4B8C-83A1-F6EECF244321}">
                <p14:modId xmlns:p14="http://schemas.microsoft.com/office/powerpoint/2010/main" val="2477275975"/>
              </p:ext>
            </p:extLst>
          </p:nvPr>
        </p:nvGraphicFramePr>
        <p:xfrm>
          <a:off x="757237" y="1318886"/>
          <a:ext cx="7822406" cy="3673504"/>
        </p:xfrm>
        <a:graphic>
          <a:graphicData uri="http://schemas.openxmlformats.org/drawingml/2006/table">
            <a:tbl>
              <a:tblPr/>
              <a:tblGrid>
                <a:gridCol w="1326356">
                  <a:extLst>
                    <a:ext uri="{9D8B030D-6E8A-4147-A177-3AD203B41FA5}">
                      <a16:colId xmlns:a16="http://schemas.microsoft.com/office/drawing/2014/main" val="3295943066"/>
                    </a:ext>
                  </a:extLst>
                </a:gridCol>
                <a:gridCol w="624114">
                  <a:extLst>
                    <a:ext uri="{9D8B030D-6E8A-4147-A177-3AD203B41FA5}">
                      <a16:colId xmlns:a16="http://schemas.microsoft.com/office/drawing/2014/main" val="1613841881"/>
                    </a:ext>
                  </a:extLst>
                </a:gridCol>
                <a:gridCol w="728436">
                  <a:extLst>
                    <a:ext uri="{9D8B030D-6E8A-4147-A177-3AD203B41FA5}">
                      <a16:colId xmlns:a16="http://schemas.microsoft.com/office/drawing/2014/main" val="55069317"/>
                    </a:ext>
                  </a:extLst>
                </a:gridCol>
                <a:gridCol w="787854">
                  <a:extLst>
                    <a:ext uri="{9D8B030D-6E8A-4147-A177-3AD203B41FA5}">
                      <a16:colId xmlns:a16="http://schemas.microsoft.com/office/drawing/2014/main" val="2943572060"/>
                    </a:ext>
                  </a:extLst>
                </a:gridCol>
                <a:gridCol w="872558">
                  <a:extLst>
                    <a:ext uri="{9D8B030D-6E8A-4147-A177-3AD203B41FA5}">
                      <a16:colId xmlns:a16="http://schemas.microsoft.com/office/drawing/2014/main" val="3001822527"/>
                    </a:ext>
                  </a:extLst>
                </a:gridCol>
                <a:gridCol w="872558">
                  <a:extLst>
                    <a:ext uri="{9D8B030D-6E8A-4147-A177-3AD203B41FA5}">
                      <a16:colId xmlns:a16="http://schemas.microsoft.com/office/drawing/2014/main" val="545254132"/>
                    </a:ext>
                  </a:extLst>
                </a:gridCol>
                <a:gridCol w="872558">
                  <a:extLst>
                    <a:ext uri="{9D8B030D-6E8A-4147-A177-3AD203B41FA5}">
                      <a16:colId xmlns:a16="http://schemas.microsoft.com/office/drawing/2014/main" val="842205443"/>
                    </a:ext>
                  </a:extLst>
                </a:gridCol>
                <a:gridCol w="845003">
                  <a:extLst>
                    <a:ext uri="{9D8B030D-6E8A-4147-A177-3AD203B41FA5}">
                      <a16:colId xmlns:a16="http://schemas.microsoft.com/office/drawing/2014/main" val="570337258"/>
                    </a:ext>
                  </a:extLst>
                </a:gridCol>
                <a:gridCol w="892969">
                  <a:extLst>
                    <a:ext uri="{9D8B030D-6E8A-4147-A177-3AD203B41FA5}">
                      <a16:colId xmlns:a16="http://schemas.microsoft.com/office/drawing/2014/main" val="2049428512"/>
                    </a:ext>
                  </a:extLst>
                </a:gridCol>
              </a:tblGrid>
              <a:tr h="0">
                <a:tc>
                  <a:txBody>
                    <a:bodyPr/>
                    <a:lstStyle/>
                    <a:p>
                      <a:pPr algn="l" fontAlgn="ctr"/>
                      <a:r>
                        <a:rPr lang="en-IN" sz="1050" b="1" dirty="0">
                          <a:solidFill>
                            <a:schemeClr val="bg1"/>
                          </a:solidFill>
                          <a:effectLst/>
                        </a:rPr>
                        <a:t>           Feature                          </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count</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mean</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std</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min</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25%</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50%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fontAlgn="ctr"/>
                      <a:r>
                        <a:rPr lang="en-IN" sz="1050" b="1" dirty="0">
                          <a:solidFill>
                            <a:schemeClr val="bg1"/>
                          </a:solidFill>
                          <a:effectLst/>
                        </a:rPr>
                        <a:t>75%</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1050" b="1" dirty="0">
                        <a:solidFill>
                          <a:schemeClr val="bg1"/>
                        </a:solidFill>
                        <a:effectLs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050" b="1" dirty="0">
                          <a:solidFill>
                            <a:schemeClr val="bg1"/>
                          </a:solidFill>
                          <a:effectLst/>
                        </a:rPr>
                        <a:t>max</a:t>
                      </a:r>
                    </a:p>
                    <a:p>
                      <a:pPr algn="ctr"/>
                      <a:endParaRPr lang="en-IN" sz="1050" dirty="0">
                        <a:solidFill>
                          <a:schemeClr val="bg1"/>
                        </a:solidFill>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289719580"/>
                  </a:ext>
                </a:extLst>
              </a:tr>
              <a:tr h="188942">
                <a:tc>
                  <a:txBody>
                    <a:bodyPr/>
                    <a:lstStyle/>
                    <a:p>
                      <a:pPr algn="l" fontAlgn="ctr"/>
                      <a:r>
                        <a:rPr lang="en-IN" sz="800" b="1" dirty="0">
                          <a:effectLst/>
                        </a:rPr>
                        <a:t>Administrative</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2.315166</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3.321784</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4.000000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27.000000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851846846"/>
                  </a:ext>
                </a:extLst>
              </a:tr>
              <a:tr h="266741">
                <a:tc>
                  <a:txBody>
                    <a:bodyPr/>
                    <a:lstStyle/>
                    <a:p>
                      <a:pPr algn="l" fontAlgn="ctr"/>
                      <a:r>
                        <a:rPr lang="en-IN" sz="800" b="1" dirty="0" err="1">
                          <a:effectLst/>
                        </a:rPr>
                        <a:t>Administrative_Duration</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80.818611</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176.779107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7.500000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93.256250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3398.750000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880308186"/>
                  </a:ext>
                </a:extLst>
              </a:tr>
              <a:tr h="188942">
                <a:tc>
                  <a:txBody>
                    <a:bodyPr/>
                    <a:lstStyle/>
                    <a:p>
                      <a:pPr algn="l" fontAlgn="ctr"/>
                      <a:r>
                        <a:rPr lang="en-IN" sz="800" b="1" dirty="0">
                          <a:effectLst/>
                        </a:rPr>
                        <a:t>Informational</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0.503569</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1.270156</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24.000000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52044759"/>
                  </a:ext>
                </a:extLst>
              </a:tr>
              <a:tr h="266741">
                <a:tc>
                  <a:txBody>
                    <a:bodyPr/>
                    <a:lstStyle/>
                    <a:p>
                      <a:pPr algn="l" fontAlgn="ctr"/>
                      <a:r>
                        <a:rPr lang="en-IN" sz="800" b="1" dirty="0" err="1">
                          <a:effectLst/>
                        </a:rPr>
                        <a:t>Informational_Duration</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34.472398</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140.749294</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2549.375000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200862247"/>
                  </a:ext>
                </a:extLst>
              </a:tr>
              <a:tr h="188942">
                <a:tc>
                  <a:txBody>
                    <a:bodyPr/>
                    <a:lstStyle/>
                    <a:p>
                      <a:pPr algn="l" fontAlgn="ctr"/>
                      <a:r>
                        <a:rPr lang="en-IN" sz="800" b="1" dirty="0" err="1">
                          <a:effectLst/>
                        </a:rPr>
                        <a:t>ProductRelated</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31.731468</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44.475503</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7.000000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18.000000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38.000000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705.000000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697392324"/>
                  </a:ext>
                </a:extLst>
              </a:tr>
              <a:tr h="266741">
                <a:tc>
                  <a:txBody>
                    <a:bodyPr/>
                    <a:lstStyle/>
                    <a:p>
                      <a:pPr algn="l" fontAlgn="ctr"/>
                      <a:r>
                        <a:rPr lang="en-IN" sz="800" b="1" dirty="0" err="1">
                          <a:effectLst/>
                        </a:rPr>
                        <a:t>ProductRelated_Duration</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1194.746220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1913.669288</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184.137500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598.936905</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1464.157214</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63973.522230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86810777"/>
                  </a:ext>
                </a:extLst>
              </a:tr>
              <a:tr h="266741">
                <a:tc>
                  <a:txBody>
                    <a:bodyPr/>
                    <a:lstStyle/>
                    <a:p>
                      <a:pPr algn="l" fontAlgn="ctr"/>
                      <a:r>
                        <a:rPr lang="en-IN" sz="800" b="1" dirty="0" err="1">
                          <a:effectLst/>
                        </a:rPr>
                        <a:t>BounceRates</a:t>
                      </a:r>
                      <a:r>
                        <a:rPr lang="en-IN" sz="800" b="1" dirty="0">
                          <a:effectLst/>
                        </a:rPr>
                        <a:t> in %</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0.022191</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0.048488</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0.003112</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0.016813</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0.200000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119207848"/>
                  </a:ext>
                </a:extLst>
              </a:tr>
              <a:tr h="188942">
                <a:tc>
                  <a:txBody>
                    <a:bodyPr/>
                    <a:lstStyle/>
                    <a:p>
                      <a:pPr algn="l" fontAlgn="ctr"/>
                      <a:r>
                        <a:rPr lang="en-IN" sz="800" b="1" dirty="0" err="1">
                          <a:effectLst/>
                        </a:rPr>
                        <a:t>ExitRates</a:t>
                      </a:r>
                      <a:r>
                        <a:rPr lang="en-IN" sz="800" b="1" dirty="0">
                          <a:effectLst/>
                        </a:rPr>
                        <a:t> in %</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0.043073</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0.048597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0.014286</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0.025156</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0.050000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0.200000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430253628"/>
                  </a:ext>
                </a:extLst>
              </a:tr>
              <a:tr h="188942">
                <a:tc>
                  <a:txBody>
                    <a:bodyPr/>
                    <a:lstStyle/>
                    <a:p>
                      <a:pPr algn="l" fontAlgn="ctr"/>
                      <a:r>
                        <a:rPr lang="en-IN" sz="800" b="1" dirty="0" err="1">
                          <a:effectLst/>
                        </a:rPr>
                        <a:t>PageValues</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5.889258</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18.568437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361.763742</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533035217"/>
                  </a:ext>
                </a:extLst>
              </a:tr>
              <a:tr h="344541">
                <a:tc>
                  <a:txBody>
                    <a:bodyPr/>
                    <a:lstStyle/>
                    <a:p>
                      <a:pPr algn="l" fontAlgn="ctr"/>
                      <a:r>
                        <a:rPr lang="en-IN" sz="800" b="1" dirty="0" err="1">
                          <a:effectLst/>
                        </a:rPr>
                        <a:t>SpecialDay</a:t>
                      </a:r>
                      <a:r>
                        <a:rPr lang="en-IN" sz="800" b="1" dirty="0">
                          <a:effectLst/>
                        </a:rPr>
                        <a:t> (probability)</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0.061427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0.198917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144506428"/>
                  </a:ext>
                </a:extLst>
              </a:tr>
              <a:tr h="266741">
                <a:tc>
                  <a:txBody>
                    <a:bodyPr/>
                    <a:lstStyle/>
                    <a:p>
                      <a:pPr algn="l" fontAlgn="ctr"/>
                      <a:r>
                        <a:rPr lang="en-IN" sz="800" b="1" dirty="0" err="1">
                          <a:effectLst/>
                        </a:rPr>
                        <a:t>OperatingSystems</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2.124006</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0.911325</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3.000000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8.000000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669607236"/>
                  </a:ext>
                </a:extLst>
              </a:tr>
              <a:tr h="188942">
                <a:tc>
                  <a:txBody>
                    <a:bodyPr/>
                    <a:lstStyle/>
                    <a:p>
                      <a:pPr algn="l" fontAlgn="ctr"/>
                      <a:r>
                        <a:rPr lang="en-IN" sz="800" b="1" dirty="0">
                          <a:effectLst/>
                        </a:rPr>
                        <a:t>Browser</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2.357097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1.717277</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13.000000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937992767"/>
                  </a:ext>
                </a:extLst>
              </a:tr>
              <a:tr h="148369">
                <a:tc>
                  <a:txBody>
                    <a:bodyPr/>
                    <a:lstStyle/>
                    <a:p>
                      <a:pPr algn="l" fontAlgn="ctr"/>
                      <a:r>
                        <a:rPr lang="en-IN" sz="800" b="1" dirty="0">
                          <a:effectLst/>
                        </a:rPr>
                        <a:t>Region</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3.147364</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2.401591</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3.000000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4.000000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9.000000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546150635"/>
                  </a:ext>
                </a:extLst>
              </a:tr>
              <a:tr h="188942">
                <a:tc>
                  <a:txBody>
                    <a:bodyPr/>
                    <a:lstStyle/>
                    <a:p>
                      <a:pPr algn="l" fontAlgn="ctr"/>
                      <a:r>
                        <a:rPr lang="en-IN" sz="800" b="1" dirty="0" err="1">
                          <a:effectLst/>
                        </a:rPr>
                        <a:t>TrafficType</a:t>
                      </a:r>
                      <a:endParaRPr lang="en-IN" sz="800" b="1" dirty="0">
                        <a:effectLst/>
                      </a:endParaRP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12330.0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4.069586</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4.025169</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1.0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2.000000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a:effectLst/>
                        </a:rPr>
                        <a:t>4.000000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800" dirty="0">
                          <a:effectLst/>
                        </a:rPr>
                        <a:t>20.000000</a:t>
                      </a:r>
                    </a:p>
                  </a:txBody>
                  <a:tcPr marL="35341" marR="35341" marT="17671" marB="17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243247929"/>
                  </a:ext>
                </a:extLst>
              </a:tr>
            </a:tbl>
          </a:graphicData>
        </a:graphic>
      </p:graphicFrame>
      <p:sp>
        <p:nvSpPr>
          <p:cNvPr id="12" name="Google Shape;92;p2">
            <a:extLst>
              <a:ext uri="{FF2B5EF4-FFF2-40B4-BE49-F238E27FC236}">
                <a16:creationId xmlns:a16="http://schemas.microsoft.com/office/drawing/2014/main" id="{B7B5BAA0-3388-3329-94ED-01B009CC8F70}"/>
              </a:ext>
            </a:extLst>
          </p:cNvPr>
          <p:cNvSpPr txBox="1">
            <a:spLocks noGrp="1"/>
          </p:cNvSpPr>
          <p:nvPr>
            <p:ph type="title"/>
          </p:nvPr>
        </p:nvSpPr>
        <p:spPr>
          <a:xfrm>
            <a:off x="783772" y="509250"/>
            <a:ext cx="4318000" cy="48985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sz="2000" dirty="0">
                <a:solidFill>
                  <a:srgbClr val="00B050"/>
                </a:solidFill>
              </a:rPr>
              <a:t>Data  Description - Stats</a:t>
            </a:r>
            <a:endParaRPr sz="2000" dirty="0">
              <a:solidFill>
                <a:srgbClr val="00B050"/>
              </a:solidFill>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493707" y="507207"/>
            <a:ext cx="7688700" cy="507206"/>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solidFill>
                  <a:schemeClr val="accent3"/>
                </a:solidFill>
              </a:rPr>
              <a:t>EDA – TARGET ANALYSIS</a:t>
            </a:r>
            <a:endParaRPr dirty="0">
              <a:solidFill>
                <a:schemeClr val="accent3"/>
              </a:solidFill>
            </a:endParaRPr>
          </a:p>
        </p:txBody>
      </p:sp>
      <p:pic>
        <p:nvPicPr>
          <p:cNvPr id="3074" name="Picture 2">
            <a:extLst>
              <a:ext uri="{FF2B5EF4-FFF2-40B4-BE49-F238E27FC236}">
                <a16:creationId xmlns:a16="http://schemas.microsoft.com/office/drawing/2014/main" id="{EFD99485-D9FC-3F40-EF30-08CE6FB40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358" y="1309687"/>
            <a:ext cx="2938462" cy="249078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7995C51A-513A-15B8-99B5-F2D1DA1A7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1820" y="1323970"/>
            <a:ext cx="5536405" cy="239554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11;p5">
            <a:extLst>
              <a:ext uri="{FF2B5EF4-FFF2-40B4-BE49-F238E27FC236}">
                <a16:creationId xmlns:a16="http://schemas.microsoft.com/office/drawing/2014/main" id="{EFD2B815-55BF-1D14-2F8C-BBD69A294A10}"/>
              </a:ext>
            </a:extLst>
          </p:cNvPr>
          <p:cNvSpPr txBox="1">
            <a:spLocks noGrp="1"/>
          </p:cNvSpPr>
          <p:nvPr>
            <p:ph type="body" idx="1"/>
          </p:nvPr>
        </p:nvSpPr>
        <p:spPr>
          <a:xfrm>
            <a:off x="596532" y="3814758"/>
            <a:ext cx="7821618" cy="1085855"/>
          </a:xfrm>
          <a:prstGeom prst="rect">
            <a:avLst/>
          </a:prstGeom>
          <a:noFill/>
          <a:ln>
            <a:noFill/>
          </a:ln>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rgbClr val="595858"/>
              </a:buClr>
              <a:buSzPts val="1150"/>
              <a:buFont typeface="Roboto"/>
              <a:buAutoNum type="arabicPeriod"/>
            </a:pPr>
            <a:r>
              <a:rPr lang="en-IN" sz="1200" dirty="0">
                <a:solidFill>
                  <a:srgbClr val="000000"/>
                </a:solidFill>
                <a:latin typeface="Times New Roman"/>
                <a:ea typeface="Times New Roman"/>
                <a:cs typeface="Times New Roman"/>
                <a:sym typeface="Times New Roman"/>
              </a:rPr>
              <a:t>Out of total 12330 transactions only 1908 transactions converted to Purchase transactions, which is only 15%.</a:t>
            </a:r>
          </a:p>
          <a:p>
            <a:pPr marL="457200" lvl="0" indent="-301625" algn="l" rtl="0">
              <a:lnSpc>
                <a:spcPct val="100000"/>
              </a:lnSpc>
              <a:spcBef>
                <a:spcPts val="0"/>
              </a:spcBef>
              <a:spcAft>
                <a:spcPts val="0"/>
              </a:spcAft>
              <a:buClr>
                <a:srgbClr val="595858"/>
              </a:buClr>
              <a:buSzPts val="1150"/>
              <a:buFont typeface="Roboto"/>
              <a:buAutoNum type="arabicPeriod"/>
            </a:pPr>
            <a:r>
              <a:rPr lang="en-IN" sz="1200" dirty="0">
                <a:solidFill>
                  <a:srgbClr val="000000"/>
                </a:solidFill>
                <a:latin typeface="Times New Roman"/>
                <a:ea typeface="Times New Roman"/>
                <a:cs typeface="Times New Roman"/>
                <a:sym typeface="Times New Roman"/>
              </a:rPr>
              <a:t>Major chunk of Purchase transactions occurred from the transaction visited </a:t>
            </a:r>
            <a:r>
              <a:rPr lang="en-IN" sz="1200" dirty="0" err="1">
                <a:solidFill>
                  <a:srgbClr val="000000"/>
                </a:solidFill>
                <a:latin typeface="Times New Roman"/>
                <a:ea typeface="Times New Roman"/>
                <a:cs typeface="Times New Roman"/>
                <a:sym typeface="Times New Roman"/>
              </a:rPr>
              <a:t>Admn</a:t>
            </a:r>
            <a:r>
              <a:rPr lang="en-IN" sz="1200" dirty="0">
                <a:solidFill>
                  <a:srgbClr val="000000"/>
                </a:solidFill>
                <a:latin typeface="Times New Roman"/>
                <a:ea typeface="Times New Roman"/>
                <a:cs typeface="Times New Roman"/>
                <a:sym typeface="Times New Roman"/>
              </a:rPr>
              <a:t> and Information pages. Which is around 22%.</a:t>
            </a:r>
          </a:p>
          <a:p>
            <a:pPr marL="457200" lvl="0" indent="-301625" algn="l" rtl="0">
              <a:lnSpc>
                <a:spcPct val="100000"/>
              </a:lnSpc>
              <a:spcBef>
                <a:spcPts val="0"/>
              </a:spcBef>
              <a:spcAft>
                <a:spcPts val="0"/>
              </a:spcAft>
              <a:buClr>
                <a:srgbClr val="595858"/>
              </a:buClr>
              <a:buSzPts val="1150"/>
              <a:buFont typeface="Roboto"/>
              <a:buAutoNum type="arabicPeriod"/>
            </a:pPr>
            <a:r>
              <a:rPr lang="en-IN" sz="1200" dirty="0">
                <a:solidFill>
                  <a:srgbClr val="000000"/>
                </a:solidFill>
                <a:latin typeface="Times New Roman"/>
                <a:ea typeface="Times New Roman"/>
                <a:cs typeface="Times New Roman"/>
                <a:sym typeface="Times New Roman"/>
              </a:rPr>
              <a:t>50% i.e., transactions directly visited Product page may be visited from out side </a:t>
            </a:r>
            <a:r>
              <a:rPr lang="en-IN" sz="1200" dirty="0" err="1">
                <a:solidFill>
                  <a:srgbClr val="000000"/>
                </a:solidFill>
                <a:latin typeface="Times New Roman"/>
                <a:ea typeface="Times New Roman"/>
                <a:cs typeface="Times New Roman"/>
                <a:sym typeface="Times New Roman"/>
              </a:rPr>
              <a:t>referal</a:t>
            </a:r>
            <a:r>
              <a:rPr lang="en-IN" sz="1200" dirty="0">
                <a:solidFill>
                  <a:srgbClr val="000000"/>
                </a:solidFill>
                <a:latin typeface="Times New Roman"/>
                <a:ea typeface="Times New Roman"/>
                <a:cs typeface="Times New Roman"/>
                <a:sym typeface="Times New Roman"/>
              </a:rPr>
              <a:t> websites but revenue generated transactions are very low at 8% only.</a:t>
            </a:r>
          </a:p>
          <a:p>
            <a:pPr marL="0" lvl="0" indent="0" algn="l" rtl="0">
              <a:lnSpc>
                <a:spcPct val="100000"/>
              </a:lnSpc>
              <a:spcBef>
                <a:spcPts val="1600"/>
              </a:spcBef>
              <a:spcAft>
                <a:spcPts val="0"/>
              </a:spcAft>
              <a:buSzPts val="1300"/>
              <a:buNone/>
            </a:pPr>
            <a:endParaRPr sz="1150" dirty="0">
              <a:solidFill>
                <a:srgbClr val="000000"/>
              </a:solidFill>
              <a:latin typeface="Times New Roman"/>
              <a:ea typeface="Times New Roman"/>
              <a:cs typeface="Times New Roman"/>
              <a:sym typeface="Times New Roman"/>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450055" y="0"/>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t>EDA – COLLINEARITY</a:t>
            </a:r>
            <a:endParaRPr dirty="0"/>
          </a:p>
        </p:txBody>
      </p:sp>
      <p:pic>
        <p:nvPicPr>
          <p:cNvPr id="4098" name="Picture 2">
            <a:extLst>
              <a:ext uri="{FF2B5EF4-FFF2-40B4-BE49-F238E27FC236}">
                <a16:creationId xmlns:a16="http://schemas.microsoft.com/office/drawing/2014/main" id="{70C7C189-D923-4048-C869-8C64F8272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206" y="1321596"/>
            <a:ext cx="7972425" cy="17859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4C8EF25A-74EF-477A-A6C8-4A1637CFC0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5" y="3107533"/>
            <a:ext cx="8029575" cy="1895475"/>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11;p5">
            <a:extLst>
              <a:ext uri="{FF2B5EF4-FFF2-40B4-BE49-F238E27FC236}">
                <a16:creationId xmlns:a16="http://schemas.microsoft.com/office/drawing/2014/main" id="{2CF97442-1A57-2023-0D92-EFF1943FFE97}"/>
              </a:ext>
            </a:extLst>
          </p:cNvPr>
          <p:cNvSpPr txBox="1">
            <a:spLocks noGrp="1"/>
          </p:cNvSpPr>
          <p:nvPr>
            <p:ph type="body" idx="1"/>
          </p:nvPr>
        </p:nvSpPr>
        <p:spPr>
          <a:xfrm>
            <a:off x="300037" y="435769"/>
            <a:ext cx="8579643" cy="728662"/>
          </a:xfrm>
          <a:prstGeom prst="rect">
            <a:avLst/>
          </a:prstGeom>
          <a:noFill/>
          <a:ln>
            <a:solidFill>
              <a:schemeClr val="tx1"/>
            </a:solidFill>
          </a:ln>
        </p:spPr>
        <p:txBody>
          <a:bodyPr spcFirstLastPara="1" wrap="square" lIns="91425" tIns="91425" rIns="91425" bIns="91425" anchor="t" anchorCtr="0">
            <a:noAutofit/>
          </a:bodyPr>
          <a:lstStyle/>
          <a:p>
            <a:pPr marL="155575" lvl="0" indent="0" algn="l" rtl="0">
              <a:lnSpc>
                <a:spcPct val="100000"/>
              </a:lnSpc>
              <a:spcBef>
                <a:spcPts val="0"/>
              </a:spcBef>
              <a:spcAft>
                <a:spcPts val="0"/>
              </a:spcAft>
              <a:buClr>
                <a:srgbClr val="595858"/>
              </a:buClr>
              <a:buSzPts val="1150"/>
              <a:buNone/>
            </a:pPr>
            <a:r>
              <a:rPr lang="en-GB" sz="1200" dirty="0">
                <a:solidFill>
                  <a:srgbClr val="000000"/>
                </a:solidFill>
                <a:latin typeface="Times New Roman"/>
                <a:ea typeface="Times New Roman"/>
                <a:cs typeface="Times New Roman"/>
                <a:sym typeface="Times New Roman"/>
              </a:rPr>
              <a:t>Observations :</a:t>
            </a:r>
          </a:p>
          <a:p>
            <a:pPr marL="457200" lvl="0" indent="-301625" algn="l" rtl="0">
              <a:lnSpc>
                <a:spcPct val="100000"/>
              </a:lnSpc>
              <a:spcBef>
                <a:spcPts val="0"/>
              </a:spcBef>
              <a:spcAft>
                <a:spcPts val="0"/>
              </a:spcAft>
              <a:buClr>
                <a:srgbClr val="595858"/>
              </a:buClr>
              <a:buSzPts val="1150"/>
              <a:buFont typeface="Roboto"/>
              <a:buAutoNum type="arabicPeriod"/>
            </a:pPr>
            <a:r>
              <a:rPr lang="en-GB" sz="1200" dirty="0">
                <a:solidFill>
                  <a:srgbClr val="000000"/>
                </a:solidFill>
                <a:latin typeface="Times New Roman"/>
                <a:ea typeface="Times New Roman"/>
                <a:cs typeface="Times New Roman"/>
                <a:sym typeface="Times New Roman"/>
              </a:rPr>
              <a:t>Based on correlation and heat map observations it is found that only Page values have linear relation with Revenue</a:t>
            </a:r>
          </a:p>
          <a:p>
            <a:pPr marL="457200" lvl="0" indent="-301625" algn="l" rtl="0">
              <a:lnSpc>
                <a:spcPct val="100000"/>
              </a:lnSpc>
              <a:spcBef>
                <a:spcPts val="0"/>
              </a:spcBef>
              <a:spcAft>
                <a:spcPts val="0"/>
              </a:spcAft>
              <a:buClr>
                <a:srgbClr val="595858"/>
              </a:buClr>
              <a:buSzPts val="1150"/>
              <a:buFont typeface="Roboto"/>
              <a:buAutoNum type="arabicPeriod"/>
            </a:pPr>
            <a:r>
              <a:rPr lang="en-GB" sz="1200" dirty="0">
                <a:solidFill>
                  <a:srgbClr val="000000"/>
                </a:solidFill>
                <a:latin typeface="Times New Roman"/>
                <a:ea typeface="Times New Roman"/>
                <a:cs typeface="Times New Roman"/>
                <a:sym typeface="Times New Roman"/>
              </a:rPr>
              <a:t>There is also multicollinearity observed between </a:t>
            </a:r>
            <a:r>
              <a:rPr lang="en-GB" sz="1200" dirty="0" err="1">
                <a:solidFill>
                  <a:srgbClr val="000000"/>
                </a:solidFill>
                <a:latin typeface="Times New Roman"/>
                <a:ea typeface="Times New Roman"/>
                <a:cs typeface="Times New Roman"/>
                <a:sym typeface="Times New Roman"/>
              </a:rPr>
              <a:t>Bouncerates</a:t>
            </a:r>
            <a:r>
              <a:rPr lang="en-GB" sz="1200" dirty="0">
                <a:solidFill>
                  <a:srgbClr val="000000"/>
                </a:solidFill>
                <a:latin typeface="Times New Roman"/>
                <a:ea typeface="Times New Roman"/>
                <a:cs typeface="Times New Roman"/>
                <a:sym typeface="Times New Roman"/>
              </a:rPr>
              <a:t> and </a:t>
            </a:r>
            <a:r>
              <a:rPr lang="en-GB" sz="1200" dirty="0" err="1">
                <a:solidFill>
                  <a:srgbClr val="000000"/>
                </a:solidFill>
                <a:latin typeface="Times New Roman"/>
                <a:ea typeface="Times New Roman"/>
                <a:cs typeface="Times New Roman"/>
                <a:sym typeface="Times New Roman"/>
              </a:rPr>
              <a:t>Exitrates</a:t>
            </a:r>
            <a:endParaRPr sz="11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1765643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477618" y="0"/>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t>EDA – UNIVARIATE ANALYSIS</a:t>
            </a:r>
            <a:endParaRPr dirty="0"/>
          </a:p>
        </p:txBody>
      </p:sp>
      <p:pic>
        <p:nvPicPr>
          <p:cNvPr id="8194" name="Picture 2">
            <a:extLst>
              <a:ext uri="{FF2B5EF4-FFF2-40B4-BE49-F238E27FC236}">
                <a16:creationId xmlns:a16="http://schemas.microsoft.com/office/drawing/2014/main" id="{5BA7065C-2DA7-CECF-1D1A-0D0F3C48D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35779"/>
            <a:ext cx="3743326" cy="177879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4B58C493-3D84-47EA-AA7C-C219FA30D0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1463" y="535779"/>
            <a:ext cx="3976687" cy="1778794"/>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D5CECE3E-160E-16B1-00D1-D8601AA310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875" y="2393152"/>
            <a:ext cx="3798093" cy="172878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6B4D7071-C646-D962-7823-68C7F30FA1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1463" y="2393152"/>
            <a:ext cx="3976687" cy="1728788"/>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11;p5">
            <a:extLst>
              <a:ext uri="{FF2B5EF4-FFF2-40B4-BE49-F238E27FC236}">
                <a16:creationId xmlns:a16="http://schemas.microsoft.com/office/drawing/2014/main" id="{F74015B1-BD02-B0FC-D24C-F5C2F174B46E}"/>
              </a:ext>
            </a:extLst>
          </p:cNvPr>
          <p:cNvSpPr txBox="1">
            <a:spLocks noGrp="1"/>
          </p:cNvSpPr>
          <p:nvPr>
            <p:ph type="body" idx="1"/>
          </p:nvPr>
        </p:nvSpPr>
        <p:spPr>
          <a:xfrm>
            <a:off x="275034" y="4100508"/>
            <a:ext cx="8593931" cy="1042992"/>
          </a:xfrm>
          <a:prstGeom prst="rect">
            <a:avLst/>
          </a:prstGeom>
          <a:noFill/>
          <a:ln>
            <a:noFill/>
          </a:ln>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rgbClr val="595858"/>
              </a:buClr>
              <a:buSzPts val="1150"/>
              <a:buFont typeface="Roboto"/>
              <a:buAutoNum type="arabicPeriod"/>
            </a:pPr>
            <a:r>
              <a:rPr lang="en-GB" sz="1200" dirty="0">
                <a:solidFill>
                  <a:srgbClr val="000000"/>
                </a:solidFill>
                <a:latin typeface="Times New Roman"/>
                <a:ea typeface="Times New Roman"/>
                <a:cs typeface="Times New Roman"/>
                <a:sym typeface="Times New Roman"/>
              </a:rPr>
              <a:t>Only 23%(around 2900) page visits happened in weekends,  rest of 77% visits happened in other days.</a:t>
            </a:r>
          </a:p>
          <a:p>
            <a:pPr marL="457200" lvl="0" indent="-301625" algn="l" rtl="0">
              <a:lnSpc>
                <a:spcPct val="100000"/>
              </a:lnSpc>
              <a:spcBef>
                <a:spcPts val="0"/>
              </a:spcBef>
              <a:spcAft>
                <a:spcPts val="0"/>
              </a:spcAft>
              <a:buClr>
                <a:srgbClr val="595858"/>
              </a:buClr>
              <a:buSzPts val="1150"/>
              <a:buFont typeface="Roboto"/>
              <a:buAutoNum type="arabicPeriod"/>
            </a:pPr>
            <a:r>
              <a:rPr lang="en-GB" sz="1150" dirty="0">
                <a:solidFill>
                  <a:srgbClr val="000000"/>
                </a:solidFill>
                <a:latin typeface="Times New Roman"/>
                <a:ea typeface="Times New Roman"/>
                <a:cs typeface="Times New Roman"/>
                <a:sym typeface="Times New Roman"/>
              </a:rPr>
              <a:t>Highest page visits and Purchase page visits observed from Browser 2 Followed by page visits of Browsers 1, 4,5.</a:t>
            </a:r>
          </a:p>
          <a:p>
            <a:pPr marL="457200" lvl="0" indent="-301625" algn="l" rtl="0">
              <a:lnSpc>
                <a:spcPct val="100000"/>
              </a:lnSpc>
              <a:spcBef>
                <a:spcPts val="0"/>
              </a:spcBef>
              <a:spcAft>
                <a:spcPts val="0"/>
              </a:spcAft>
              <a:buClr>
                <a:srgbClr val="595858"/>
              </a:buClr>
              <a:buSzPts val="1150"/>
              <a:buFont typeface="Roboto"/>
              <a:buAutoNum type="arabicPeriod"/>
            </a:pPr>
            <a:r>
              <a:rPr lang="en-GB" sz="1150" dirty="0">
                <a:solidFill>
                  <a:srgbClr val="000000"/>
                </a:solidFill>
                <a:latin typeface="Times New Roman"/>
                <a:ea typeface="Times New Roman"/>
                <a:cs typeface="Times New Roman"/>
                <a:sym typeface="Times New Roman"/>
              </a:rPr>
              <a:t>It is observed that Region 1 leading with 39% page visits followed by 3 with 20%</a:t>
            </a:r>
          </a:p>
          <a:p>
            <a:pPr marL="457200" lvl="0" indent="-301625" algn="l" rtl="0">
              <a:lnSpc>
                <a:spcPct val="100000"/>
              </a:lnSpc>
              <a:spcBef>
                <a:spcPts val="0"/>
              </a:spcBef>
              <a:spcAft>
                <a:spcPts val="0"/>
              </a:spcAft>
              <a:buClr>
                <a:srgbClr val="595858"/>
              </a:buClr>
              <a:buSzPts val="1150"/>
              <a:buFont typeface="Roboto"/>
              <a:buAutoNum type="arabicPeriod"/>
            </a:pPr>
            <a:r>
              <a:rPr lang="en-GB" sz="1150" dirty="0">
                <a:solidFill>
                  <a:srgbClr val="000000"/>
                </a:solidFill>
                <a:latin typeface="Times New Roman"/>
                <a:ea typeface="Times New Roman"/>
                <a:cs typeface="Times New Roman"/>
                <a:sym typeface="Times New Roman"/>
              </a:rPr>
              <a:t>It is observed that Traffic type 2 leading with 31% page visits followed by 1 with 20%  Next level observed with Traffic type 3 and 4  with 16% and 8% page visits.</a:t>
            </a:r>
            <a:endParaRPr sz="115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3906697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497680" y="0"/>
            <a:ext cx="7688700" cy="46434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sz="2200" dirty="0"/>
              <a:t>EDA – BI VARIATE ANALYSIS – TARGET VS FEATURE</a:t>
            </a:r>
            <a:endParaRPr sz="2200" dirty="0"/>
          </a:p>
        </p:txBody>
      </p:sp>
      <p:pic>
        <p:nvPicPr>
          <p:cNvPr id="7176" name="Picture 8">
            <a:extLst>
              <a:ext uri="{FF2B5EF4-FFF2-40B4-BE49-F238E27FC236}">
                <a16:creationId xmlns:a16="http://schemas.microsoft.com/office/drawing/2014/main" id="{D520FDB3-52DB-6A3A-98AB-B4881D3483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680" y="1245699"/>
            <a:ext cx="3524251" cy="2176157"/>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a:extLst>
              <a:ext uri="{FF2B5EF4-FFF2-40B4-BE49-F238E27FC236}">
                <a16:creationId xmlns:a16="http://schemas.microsoft.com/office/drawing/2014/main" id="{E9584F24-00D8-C029-5935-05C0FFD79E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0494" y="1245699"/>
            <a:ext cx="4114800" cy="1837134"/>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a:extLst>
              <a:ext uri="{FF2B5EF4-FFF2-40B4-BE49-F238E27FC236}">
                <a16:creationId xmlns:a16="http://schemas.microsoft.com/office/drawing/2014/main" id="{DAAEE704-BC8C-A6ED-95F5-8A7FE877D0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875" y="3105150"/>
            <a:ext cx="6819900" cy="203835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11;p5">
            <a:extLst>
              <a:ext uri="{FF2B5EF4-FFF2-40B4-BE49-F238E27FC236}">
                <a16:creationId xmlns:a16="http://schemas.microsoft.com/office/drawing/2014/main" id="{130DE641-87BD-9C66-1092-24C1718491AC}"/>
              </a:ext>
            </a:extLst>
          </p:cNvPr>
          <p:cNvSpPr txBox="1">
            <a:spLocks noGrp="1"/>
          </p:cNvSpPr>
          <p:nvPr>
            <p:ph type="body" idx="1"/>
          </p:nvPr>
        </p:nvSpPr>
        <p:spPr>
          <a:xfrm>
            <a:off x="282178" y="457203"/>
            <a:ext cx="8579643" cy="656339"/>
          </a:xfrm>
          <a:prstGeom prst="rect">
            <a:avLst/>
          </a:prstGeom>
          <a:noFill/>
          <a:ln>
            <a:solidFill>
              <a:schemeClr val="bg2"/>
            </a:solidFill>
          </a:ln>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rgbClr val="595858"/>
              </a:buClr>
              <a:buSzPts val="1150"/>
              <a:buFont typeface="Roboto"/>
              <a:buAutoNum type="arabicPeriod"/>
            </a:pPr>
            <a:r>
              <a:rPr lang="en-GB" sz="1200" dirty="0">
                <a:solidFill>
                  <a:srgbClr val="000000"/>
                </a:solidFill>
                <a:latin typeface="Times New Roman"/>
                <a:ea typeface="Times New Roman"/>
                <a:cs typeface="Times New Roman"/>
                <a:sym typeface="Times New Roman"/>
              </a:rPr>
              <a:t>Highest Purchase page visits happened in Nov month and then in May month.</a:t>
            </a:r>
          </a:p>
          <a:p>
            <a:pPr marL="457200" lvl="0" indent="-301625" algn="l" rtl="0">
              <a:lnSpc>
                <a:spcPct val="100000"/>
              </a:lnSpc>
              <a:spcBef>
                <a:spcPts val="0"/>
              </a:spcBef>
              <a:spcAft>
                <a:spcPts val="0"/>
              </a:spcAft>
              <a:buClr>
                <a:srgbClr val="595858"/>
              </a:buClr>
              <a:buSzPts val="1150"/>
              <a:buFont typeface="Roboto"/>
              <a:buAutoNum type="arabicPeriod"/>
            </a:pPr>
            <a:r>
              <a:rPr lang="en-GB" sz="1150" dirty="0">
                <a:solidFill>
                  <a:srgbClr val="000000"/>
                </a:solidFill>
                <a:latin typeface="Times New Roman"/>
                <a:ea typeface="Times New Roman"/>
                <a:cs typeface="Times New Roman"/>
                <a:sym typeface="Times New Roman"/>
              </a:rPr>
              <a:t>Highest page visits and Purchase page visits observed from Returning Visitor,  Followed by page visits of New visitors.</a:t>
            </a:r>
          </a:p>
          <a:p>
            <a:pPr marL="457200" lvl="0" indent="-301625" algn="l" rtl="0">
              <a:lnSpc>
                <a:spcPct val="100000"/>
              </a:lnSpc>
              <a:spcBef>
                <a:spcPts val="0"/>
              </a:spcBef>
              <a:spcAft>
                <a:spcPts val="0"/>
              </a:spcAft>
              <a:buClr>
                <a:srgbClr val="595858"/>
              </a:buClr>
              <a:buSzPts val="1150"/>
              <a:buFont typeface="Roboto"/>
              <a:buAutoNum type="arabicPeriod"/>
            </a:pPr>
            <a:r>
              <a:rPr lang="en-GB" sz="1150" dirty="0">
                <a:solidFill>
                  <a:srgbClr val="000000"/>
                </a:solidFill>
                <a:latin typeface="Times New Roman"/>
                <a:ea typeface="Times New Roman"/>
                <a:cs typeface="Times New Roman"/>
                <a:sym typeface="Times New Roman"/>
              </a:rPr>
              <a:t>Special day impact on page visits or Revenue generated page visits is not visible hence there is no impact</a:t>
            </a:r>
            <a:endParaRPr sz="115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884224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729450" y="-24380"/>
            <a:ext cx="7688700" cy="51015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sz="2200" dirty="0"/>
              <a:t>EDA – BI VARIATE ANALYSIS – TARGET VS FEATURE</a:t>
            </a:r>
            <a:endParaRPr sz="2200" dirty="0"/>
          </a:p>
        </p:txBody>
      </p:sp>
      <p:pic>
        <p:nvPicPr>
          <p:cNvPr id="6146" name="Picture 2">
            <a:extLst>
              <a:ext uri="{FF2B5EF4-FFF2-40B4-BE49-F238E27FC236}">
                <a16:creationId xmlns:a16="http://schemas.microsoft.com/office/drawing/2014/main" id="{584201A5-23B6-0D17-11D6-3DFF1DE38B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183" y="1245389"/>
            <a:ext cx="2728912" cy="184785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7D177A69-9403-8565-BCC7-FEC07E88ED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1807" y="1245389"/>
            <a:ext cx="2821781" cy="184785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5A7D9D7D-0884-A3B4-91B2-5E717C49D2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9299" y="1245389"/>
            <a:ext cx="2821781" cy="1847856"/>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C66A7CB6-10A6-FE31-AFD4-1DF2E6442A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14" y="2955132"/>
            <a:ext cx="2821781" cy="2002631"/>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74F98745-B842-AFDB-BD18-5038B8DA09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1807" y="2955132"/>
            <a:ext cx="2821781" cy="1924049"/>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a:extLst>
              <a:ext uri="{FF2B5EF4-FFF2-40B4-BE49-F238E27FC236}">
                <a16:creationId xmlns:a16="http://schemas.microsoft.com/office/drawing/2014/main" id="{13C95821-090D-04AB-0E14-187B1DCF43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8355" y="2955132"/>
            <a:ext cx="2752725" cy="1924048"/>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11;p5">
            <a:extLst>
              <a:ext uri="{FF2B5EF4-FFF2-40B4-BE49-F238E27FC236}">
                <a16:creationId xmlns:a16="http://schemas.microsoft.com/office/drawing/2014/main" id="{6E18A75B-314F-C521-9F63-3B0DE42E0F71}"/>
              </a:ext>
            </a:extLst>
          </p:cNvPr>
          <p:cNvSpPr txBox="1">
            <a:spLocks noGrp="1"/>
          </p:cNvSpPr>
          <p:nvPr>
            <p:ph type="body" idx="1"/>
          </p:nvPr>
        </p:nvSpPr>
        <p:spPr>
          <a:xfrm>
            <a:off x="282178" y="457203"/>
            <a:ext cx="8579643" cy="656339"/>
          </a:xfrm>
          <a:prstGeom prst="rect">
            <a:avLst/>
          </a:prstGeom>
          <a:noFill/>
          <a:ln>
            <a:solidFill>
              <a:schemeClr val="bg2"/>
            </a:solidFill>
          </a:ln>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rgbClr val="595858"/>
              </a:buClr>
              <a:buSzPts val="1150"/>
              <a:buFont typeface="Roboto"/>
              <a:buAutoNum type="arabicPeriod"/>
            </a:pPr>
            <a:r>
              <a:rPr lang="en-GB" sz="1250" dirty="0">
                <a:solidFill>
                  <a:srgbClr val="000000"/>
                </a:solidFill>
                <a:latin typeface="Times New Roman"/>
                <a:ea typeface="Times New Roman"/>
                <a:cs typeface="Times New Roman"/>
                <a:sym typeface="Times New Roman"/>
              </a:rPr>
              <a:t>Administrative Duration, Informational duration, product related duration and Page values has positive impact on Revenue.</a:t>
            </a:r>
          </a:p>
          <a:p>
            <a:pPr marL="457200" lvl="0" indent="-301625" algn="l" rtl="0">
              <a:lnSpc>
                <a:spcPct val="100000"/>
              </a:lnSpc>
              <a:spcBef>
                <a:spcPts val="0"/>
              </a:spcBef>
              <a:spcAft>
                <a:spcPts val="0"/>
              </a:spcAft>
              <a:buClr>
                <a:srgbClr val="595858"/>
              </a:buClr>
              <a:buSzPts val="1150"/>
              <a:buFont typeface="Roboto"/>
              <a:buAutoNum type="arabicPeriod"/>
            </a:pPr>
            <a:r>
              <a:rPr lang="en-GB" sz="1250" dirty="0">
                <a:solidFill>
                  <a:srgbClr val="000000"/>
                </a:solidFill>
                <a:latin typeface="Times New Roman"/>
                <a:ea typeface="Times New Roman"/>
                <a:cs typeface="Times New Roman"/>
                <a:sym typeface="Times New Roman"/>
              </a:rPr>
              <a:t>Where as Bounce Rates, Exit Rates have negative impact on Revenue generated page visits.</a:t>
            </a:r>
            <a:endParaRPr sz="125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244702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543712" y="468544"/>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solidFill>
                  <a:srgbClr val="00B050"/>
                </a:solidFill>
              </a:rPr>
              <a:t>DATA PREPROCESSING</a:t>
            </a:r>
            <a:endParaRPr dirty="0">
              <a:solidFill>
                <a:srgbClr val="00B050"/>
              </a:solidFill>
            </a:endParaRPr>
          </a:p>
        </p:txBody>
      </p:sp>
      <p:sp>
        <p:nvSpPr>
          <p:cNvPr id="111" name="Google Shape;111;p5"/>
          <p:cNvSpPr txBox="1">
            <a:spLocks noGrp="1"/>
          </p:cNvSpPr>
          <p:nvPr>
            <p:ph type="body" idx="1"/>
          </p:nvPr>
        </p:nvSpPr>
        <p:spPr>
          <a:xfrm>
            <a:off x="629438" y="1321637"/>
            <a:ext cx="7128675" cy="3621838"/>
          </a:xfrm>
          <a:prstGeom prst="rect">
            <a:avLst/>
          </a:prstGeom>
          <a:noFill/>
          <a:ln>
            <a:noFill/>
          </a:ln>
        </p:spPr>
        <p:txBody>
          <a:bodyPr spcFirstLastPara="1" wrap="square" lIns="91425" tIns="91425" rIns="91425" bIns="91425" anchor="t" anchorCtr="0">
            <a:noAutofit/>
          </a:bodyPr>
          <a:lstStyle/>
          <a:p>
            <a:pPr marL="457200" lvl="0" indent="-301625" algn="just" rtl="0">
              <a:lnSpc>
                <a:spcPct val="150000"/>
              </a:lnSpc>
              <a:spcBef>
                <a:spcPts val="0"/>
              </a:spcBef>
              <a:spcAft>
                <a:spcPts val="0"/>
              </a:spcAft>
              <a:buClr>
                <a:srgbClr val="595858"/>
              </a:buClr>
              <a:buSzPts val="1150"/>
              <a:buFont typeface="Roboto"/>
              <a:buAutoNum type="arabicPeriod"/>
            </a:pPr>
            <a:r>
              <a:rPr lang="en-IN" sz="1600" dirty="0">
                <a:solidFill>
                  <a:srgbClr val="000000"/>
                </a:solidFill>
                <a:latin typeface="Times New Roman"/>
                <a:ea typeface="Times New Roman"/>
                <a:cs typeface="Times New Roman"/>
                <a:sym typeface="Times New Roman"/>
              </a:rPr>
              <a:t>No null values and no duplicates.</a:t>
            </a:r>
          </a:p>
          <a:p>
            <a:pPr marL="457200" lvl="0" indent="-301625" algn="just" rtl="0">
              <a:lnSpc>
                <a:spcPct val="150000"/>
              </a:lnSpc>
              <a:spcBef>
                <a:spcPts val="0"/>
              </a:spcBef>
              <a:spcAft>
                <a:spcPts val="0"/>
              </a:spcAft>
              <a:buClr>
                <a:srgbClr val="595858"/>
              </a:buClr>
              <a:buSzPts val="1150"/>
              <a:buFont typeface="Roboto"/>
              <a:buAutoNum type="arabicPeriod"/>
            </a:pPr>
            <a:r>
              <a:rPr lang="en-IN" sz="1600" dirty="0">
                <a:solidFill>
                  <a:srgbClr val="000000"/>
                </a:solidFill>
                <a:latin typeface="Times New Roman"/>
                <a:ea typeface="Times New Roman"/>
                <a:cs typeface="Times New Roman"/>
                <a:sym typeface="Times New Roman"/>
              </a:rPr>
              <a:t>ONE HOT ENCODING done on two categorical variables i.e., Month and Visitor type.</a:t>
            </a:r>
          </a:p>
          <a:p>
            <a:pPr marL="457200" lvl="0" indent="-301625" algn="just" rtl="0">
              <a:lnSpc>
                <a:spcPct val="150000"/>
              </a:lnSpc>
              <a:spcBef>
                <a:spcPts val="0"/>
              </a:spcBef>
              <a:spcAft>
                <a:spcPts val="0"/>
              </a:spcAft>
              <a:buClr>
                <a:srgbClr val="595858"/>
              </a:buClr>
              <a:buSzPts val="1150"/>
              <a:buFont typeface="Roboto"/>
              <a:buAutoNum type="arabicPeriod"/>
            </a:pPr>
            <a:r>
              <a:rPr lang="en-IN" sz="1600" dirty="0">
                <a:solidFill>
                  <a:srgbClr val="000000"/>
                </a:solidFill>
                <a:latin typeface="Times New Roman"/>
                <a:ea typeface="Times New Roman"/>
                <a:cs typeface="Times New Roman"/>
                <a:sym typeface="Times New Roman"/>
              </a:rPr>
              <a:t>Label Encoding done on Bool variables i.e., Weekend and Revenue.</a:t>
            </a:r>
          </a:p>
          <a:p>
            <a:pPr marL="457200" lvl="0" indent="-301625" algn="just" rtl="0">
              <a:lnSpc>
                <a:spcPct val="150000"/>
              </a:lnSpc>
              <a:spcBef>
                <a:spcPts val="0"/>
              </a:spcBef>
              <a:spcAft>
                <a:spcPts val="0"/>
              </a:spcAft>
              <a:buClr>
                <a:srgbClr val="595858"/>
              </a:buClr>
              <a:buSzPts val="1150"/>
              <a:buFont typeface="Roboto"/>
              <a:buAutoNum type="arabicPeriod"/>
            </a:pPr>
            <a:r>
              <a:rPr lang="en-IN" sz="1600" dirty="0">
                <a:solidFill>
                  <a:srgbClr val="000000"/>
                </a:solidFill>
                <a:latin typeface="Times New Roman"/>
                <a:ea typeface="Times New Roman"/>
                <a:cs typeface="Times New Roman"/>
                <a:sym typeface="Times New Roman"/>
              </a:rPr>
              <a:t>Scaling done on numerical variables using Standard scaler.</a:t>
            </a:r>
          </a:p>
          <a:p>
            <a:pPr marL="457200" lvl="0" indent="-301625" algn="just" rtl="0">
              <a:lnSpc>
                <a:spcPct val="150000"/>
              </a:lnSpc>
              <a:spcBef>
                <a:spcPts val="0"/>
              </a:spcBef>
              <a:spcAft>
                <a:spcPts val="0"/>
              </a:spcAft>
              <a:buClr>
                <a:srgbClr val="595858"/>
              </a:buClr>
              <a:buSzPts val="1150"/>
              <a:buFont typeface="Roboto"/>
              <a:buAutoNum type="arabicPeriod"/>
            </a:pPr>
            <a:r>
              <a:rPr lang="en-IN" sz="1600" dirty="0">
                <a:solidFill>
                  <a:srgbClr val="000000"/>
                </a:solidFill>
                <a:latin typeface="Times New Roman"/>
                <a:ea typeface="Times New Roman"/>
                <a:cs typeface="Times New Roman"/>
                <a:sym typeface="Times New Roman"/>
              </a:rPr>
              <a:t>Outliers treatment done thru capping and flooring by taking &lt;1% for flooring and &gt;99% for capping.</a:t>
            </a:r>
          </a:p>
          <a:p>
            <a:pPr marL="457200" lvl="0" indent="-301625" algn="just" rtl="0">
              <a:lnSpc>
                <a:spcPct val="150000"/>
              </a:lnSpc>
              <a:spcBef>
                <a:spcPts val="0"/>
              </a:spcBef>
              <a:spcAft>
                <a:spcPts val="0"/>
              </a:spcAft>
              <a:buClr>
                <a:srgbClr val="595858"/>
              </a:buClr>
              <a:buSzPts val="1150"/>
              <a:buFont typeface="Roboto"/>
              <a:buAutoNum type="arabicPeriod"/>
            </a:pPr>
            <a:r>
              <a:rPr lang="en-IN" sz="1600" dirty="0">
                <a:solidFill>
                  <a:srgbClr val="000000"/>
                </a:solidFill>
                <a:latin typeface="Times New Roman"/>
                <a:ea typeface="Times New Roman"/>
                <a:cs typeface="Times New Roman"/>
                <a:sym typeface="Times New Roman"/>
              </a:rPr>
              <a:t>Data set found to be imbalanced as major &gt; 2 times minor. To handle this Random oversampling done after applying K fold cross validation.</a:t>
            </a:r>
            <a:endParaRPr sz="1600" dirty="0">
              <a:solidFill>
                <a:srgbClr val="000000"/>
              </a:solidFill>
              <a:latin typeface="Times New Roman"/>
              <a:ea typeface="Times New Roman"/>
              <a:cs typeface="Times New Roman"/>
              <a:sym typeface="Times New Roman"/>
            </a:endParaRPr>
          </a:p>
          <a:p>
            <a:pPr marL="457200" lvl="0" indent="-301625" algn="l" rtl="0">
              <a:lnSpc>
                <a:spcPct val="150000"/>
              </a:lnSpc>
              <a:spcBef>
                <a:spcPts val="0"/>
              </a:spcBef>
              <a:spcAft>
                <a:spcPts val="0"/>
              </a:spcAft>
              <a:buClr>
                <a:srgbClr val="595858"/>
              </a:buClr>
              <a:buSzPts val="1150"/>
              <a:buFont typeface="Roboto"/>
              <a:buAutoNum type="arabicPeriod"/>
            </a:pPr>
            <a:endParaRPr sz="1150" dirty="0">
              <a:solidFill>
                <a:srgbClr val="595858"/>
              </a:solidFill>
              <a:highlight>
                <a:srgbClr val="FFFFFF"/>
              </a:highlight>
              <a:latin typeface="Roboto"/>
              <a:ea typeface="Roboto"/>
              <a:cs typeface="Roboto"/>
              <a:sym typeface="Roboto"/>
            </a:endParaRPr>
          </a:p>
          <a:p>
            <a:pPr marL="0" lvl="0" indent="0" algn="l" rtl="0">
              <a:lnSpc>
                <a:spcPct val="150000"/>
              </a:lnSpc>
              <a:spcBef>
                <a:spcPts val="1600"/>
              </a:spcBef>
              <a:spcAft>
                <a:spcPts val="0"/>
              </a:spcAft>
              <a:buSzPts val="1300"/>
              <a:buNone/>
            </a:pPr>
            <a:endParaRPr sz="1150"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543712" y="-52950"/>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solidFill>
                  <a:srgbClr val="C00000"/>
                </a:solidFill>
              </a:rPr>
              <a:t>MODEL FITTING &amp; PERFORMANCE</a:t>
            </a:r>
            <a:endParaRPr dirty="0">
              <a:solidFill>
                <a:srgbClr val="C00000"/>
              </a:solidFill>
            </a:endParaRPr>
          </a:p>
        </p:txBody>
      </p:sp>
      <p:pic>
        <p:nvPicPr>
          <p:cNvPr id="12290" name="Picture 2">
            <a:extLst>
              <a:ext uri="{FF2B5EF4-FFF2-40B4-BE49-F238E27FC236}">
                <a16:creationId xmlns:a16="http://schemas.microsoft.com/office/drawing/2014/main" id="{2D6E3D1A-8E70-7A11-0FAD-FA7536851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5" y="1250156"/>
            <a:ext cx="5934075" cy="3550444"/>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11;p5">
            <a:extLst>
              <a:ext uri="{FF2B5EF4-FFF2-40B4-BE49-F238E27FC236}">
                <a16:creationId xmlns:a16="http://schemas.microsoft.com/office/drawing/2014/main" id="{DB6C0964-6177-B684-A305-7825063A72BA}"/>
              </a:ext>
            </a:extLst>
          </p:cNvPr>
          <p:cNvSpPr txBox="1">
            <a:spLocks noGrp="1"/>
          </p:cNvSpPr>
          <p:nvPr>
            <p:ph type="body" idx="1"/>
          </p:nvPr>
        </p:nvSpPr>
        <p:spPr>
          <a:xfrm>
            <a:off x="282178" y="457203"/>
            <a:ext cx="8579643" cy="656339"/>
          </a:xfrm>
          <a:prstGeom prst="rect">
            <a:avLst/>
          </a:prstGeom>
          <a:noFill/>
          <a:ln>
            <a:solidFill>
              <a:schemeClr val="bg2"/>
            </a:solidFill>
          </a:ln>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rgbClr val="595858"/>
              </a:buClr>
              <a:buSzPts val="1150"/>
              <a:buFont typeface="Roboto"/>
              <a:buAutoNum type="arabicPeriod"/>
            </a:pPr>
            <a:r>
              <a:rPr lang="en-GB" sz="1250" dirty="0">
                <a:solidFill>
                  <a:srgbClr val="000000"/>
                </a:solidFill>
                <a:latin typeface="Times New Roman"/>
                <a:ea typeface="Times New Roman"/>
                <a:cs typeface="Times New Roman"/>
                <a:sym typeface="Times New Roman"/>
              </a:rPr>
              <a:t>Total 5 models used in the process to observe which model is delivering better results, then all models given input to voting classifier to combine the output of all models to get refined output.</a:t>
            </a:r>
          </a:p>
          <a:p>
            <a:pPr marL="457200" lvl="0" indent="-301625" algn="l" rtl="0">
              <a:lnSpc>
                <a:spcPct val="100000"/>
              </a:lnSpc>
              <a:spcBef>
                <a:spcPts val="0"/>
              </a:spcBef>
              <a:spcAft>
                <a:spcPts val="0"/>
              </a:spcAft>
              <a:buClr>
                <a:srgbClr val="595858"/>
              </a:buClr>
              <a:buSzPts val="1150"/>
              <a:buFont typeface="Roboto"/>
              <a:buAutoNum type="arabicPeriod"/>
            </a:pPr>
            <a:r>
              <a:rPr lang="en-GB" sz="1250" dirty="0">
                <a:solidFill>
                  <a:srgbClr val="000000"/>
                </a:solidFill>
                <a:latin typeface="Times New Roman"/>
                <a:ea typeface="Times New Roman"/>
                <a:cs typeface="Times New Roman"/>
                <a:sym typeface="Times New Roman"/>
              </a:rPr>
              <a:t>But observed Random Forest model has done </a:t>
            </a:r>
            <a:r>
              <a:rPr lang="en-GB" sz="1250" dirty="0" err="1">
                <a:solidFill>
                  <a:srgbClr val="000000"/>
                </a:solidFill>
                <a:latin typeface="Times New Roman"/>
                <a:ea typeface="Times New Roman"/>
                <a:cs typeface="Times New Roman"/>
                <a:sym typeface="Times New Roman"/>
              </a:rPr>
              <a:t>farely</a:t>
            </a:r>
            <a:r>
              <a:rPr lang="en-GB" sz="1250" dirty="0">
                <a:solidFill>
                  <a:srgbClr val="000000"/>
                </a:solidFill>
                <a:latin typeface="Times New Roman"/>
                <a:ea typeface="Times New Roman"/>
                <a:cs typeface="Times New Roman"/>
                <a:sym typeface="Times New Roman"/>
              </a:rPr>
              <a:t> good job and given better out put.</a:t>
            </a:r>
            <a:endParaRPr sz="1250" dirty="0">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9B07608D-AE30-A793-6A29-3D4DBFC14709}"/>
              </a:ext>
            </a:extLst>
          </p:cNvPr>
          <p:cNvSpPr txBox="1"/>
          <p:nvPr/>
        </p:nvSpPr>
        <p:spPr>
          <a:xfrm>
            <a:off x="6115050" y="1203640"/>
            <a:ext cx="3120019" cy="1508105"/>
          </a:xfrm>
          <a:prstGeom prst="rect">
            <a:avLst/>
          </a:prstGeom>
          <a:noFill/>
        </p:spPr>
        <p:txBody>
          <a:bodyPr wrap="square">
            <a:spAutoFit/>
          </a:bodyPr>
          <a:lstStyle/>
          <a:p>
            <a:r>
              <a:rPr lang="en-IN" dirty="0"/>
              <a:t>      </a:t>
            </a:r>
            <a:r>
              <a:rPr lang="en-IN" sz="1300" dirty="0"/>
              <a:t>Method Used                  Accuracy</a:t>
            </a:r>
          </a:p>
          <a:p>
            <a:r>
              <a:rPr lang="en-IN" sz="1300" dirty="0"/>
              <a:t>0    Logistic Regression        0.824898</a:t>
            </a:r>
          </a:p>
          <a:p>
            <a:r>
              <a:rPr lang="en-IN" sz="1300" dirty="0"/>
              <a:t>1    Decision Tree                 0.957544</a:t>
            </a:r>
          </a:p>
          <a:p>
            <a:r>
              <a:rPr lang="en-IN" sz="1300" dirty="0"/>
              <a:t>2    Random Forest Gini       0.968098</a:t>
            </a:r>
          </a:p>
          <a:p>
            <a:r>
              <a:rPr lang="en-IN" sz="1300" dirty="0"/>
              <a:t>3    Random Forest entropy  0.966659</a:t>
            </a:r>
          </a:p>
          <a:p>
            <a:r>
              <a:rPr lang="en-IN" sz="1300" dirty="0"/>
              <a:t>4    Support Vector                0.866395</a:t>
            </a:r>
          </a:p>
          <a:p>
            <a:r>
              <a:rPr lang="en-IN" sz="1300" dirty="0"/>
              <a:t>5    Voting Classifier              0.960902</a:t>
            </a:r>
          </a:p>
        </p:txBody>
      </p:sp>
    </p:spTree>
    <p:extLst>
      <p:ext uri="{BB962C8B-B14F-4D97-AF65-F5344CB8AC3E}">
        <p14:creationId xmlns:p14="http://schemas.microsoft.com/office/powerpoint/2010/main" val="27858315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543712" y="468544"/>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t>AUC &amp; METRICS</a:t>
            </a:r>
            <a:endParaRPr dirty="0"/>
          </a:p>
        </p:txBody>
      </p:sp>
      <p:pic>
        <p:nvPicPr>
          <p:cNvPr id="11266" name="Picture 2">
            <a:extLst>
              <a:ext uri="{FF2B5EF4-FFF2-40B4-BE49-F238E27FC236}">
                <a16:creationId xmlns:a16="http://schemas.microsoft.com/office/drawing/2014/main" id="{3583A7F4-F669-AB11-840D-EDCA1DEF73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89" y="1150144"/>
            <a:ext cx="4329112" cy="191452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11;p5">
            <a:extLst>
              <a:ext uri="{FF2B5EF4-FFF2-40B4-BE49-F238E27FC236}">
                <a16:creationId xmlns:a16="http://schemas.microsoft.com/office/drawing/2014/main" id="{2E4F6931-E3C9-9647-CAFE-3F7054C5DB7A}"/>
              </a:ext>
            </a:extLst>
          </p:cNvPr>
          <p:cNvSpPr txBox="1">
            <a:spLocks noGrp="1"/>
          </p:cNvSpPr>
          <p:nvPr>
            <p:ph type="body" idx="1"/>
          </p:nvPr>
        </p:nvSpPr>
        <p:spPr>
          <a:xfrm>
            <a:off x="707626" y="3879265"/>
            <a:ext cx="7821618" cy="1081769"/>
          </a:xfrm>
          <a:prstGeom prst="rect">
            <a:avLst/>
          </a:prstGeom>
          <a:noFill/>
          <a:ln>
            <a:noFill/>
          </a:ln>
        </p:spPr>
        <p:txBody>
          <a:bodyPr spcFirstLastPara="1" wrap="square" lIns="91425" tIns="91425" rIns="91425" bIns="91425" anchor="t" anchorCtr="0">
            <a:noAutofit/>
          </a:bodyPr>
          <a:lstStyle/>
          <a:p>
            <a:pPr marL="155575" lvl="0" indent="0" algn="l" rtl="0">
              <a:lnSpc>
                <a:spcPct val="100000"/>
              </a:lnSpc>
              <a:spcBef>
                <a:spcPts val="0"/>
              </a:spcBef>
              <a:spcAft>
                <a:spcPts val="0"/>
              </a:spcAft>
              <a:buClr>
                <a:srgbClr val="595858"/>
              </a:buClr>
              <a:buSzPts val="1150"/>
              <a:buNone/>
            </a:pPr>
            <a:r>
              <a:rPr lang="en-IN" sz="1600" dirty="0">
                <a:solidFill>
                  <a:srgbClr val="000000"/>
                </a:solidFill>
                <a:latin typeface="Times New Roman"/>
                <a:ea typeface="Times New Roman"/>
                <a:cs typeface="Times New Roman"/>
                <a:sym typeface="Times New Roman"/>
              </a:rPr>
              <a:t>NOTE:</a:t>
            </a:r>
          </a:p>
          <a:p>
            <a:pPr marL="155575" lvl="0" indent="0" algn="l" rtl="0">
              <a:lnSpc>
                <a:spcPct val="100000"/>
              </a:lnSpc>
              <a:spcBef>
                <a:spcPts val="0"/>
              </a:spcBef>
              <a:spcAft>
                <a:spcPts val="0"/>
              </a:spcAft>
              <a:buClr>
                <a:srgbClr val="595858"/>
              </a:buClr>
              <a:buSzPts val="1150"/>
              <a:buNone/>
            </a:pPr>
            <a:r>
              <a:rPr lang="en-IN" sz="1600" dirty="0">
                <a:solidFill>
                  <a:srgbClr val="000000"/>
                </a:solidFill>
                <a:latin typeface="Times New Roman"/>
                <a:ea typeface="Times New Roman"/>
                <a:cs typeface="Times New Roman"/>
                <a:sym typeface="Times New Roman"/>
              </a:rPr>
              <a:t>Random Forest model has delivered accurate predictions both in False as well True scenarios with 97% f1_score.  Hence it is recommended to use this model.</a:t>
            </a:r>
          </a:p>
          <a:p>
            <a:pPr marL="0" lvl="0" indent="0" algn="l" rtl="0">
              <a:lnSpc>
                <a:spcPct val="100000"/>
              </a:lnSpc>
              <a:spcBef>
                <a:spcPts val="1600"/>
              </a:spcBef>
              <a:spcAft>
                <a:spcPts val="0"/>
              </a:spcAft>
              <a:buSzPts val="1300"/>
              <a:buNone/>
            </a:pPr>
            <a:endParaRPr sz="1150" dirty="0">
              <a:solidFill>
                <a:srgbClr val="000000"/>
              </a:solidFill>
              <a:latin typeface="Times New Roman"/>
              <a:ea typeface="Times New Roman"/>
              <a:cs typeface="Times New Roman"/>
              <a:sym typeface="Times New Roman"/>
            </a:endParaRPr>
          </a:p>
        </p:txBody>
      </p:sp>
      <p:graphicFrame>
        <p:nvGraphicFramePr>
          <p:cNvPr id="7" name="Table 6">
            <a:extLst>
              <a:ext uri="{FF2B5EF4-FFF2-40B4-BE49-F238E27FC236}">
                <a16:creationId xmlns:a16="http://schemas.microsoft.com/office/drawing/2014/main" id="{7A23F3D4-BD7B-367D-8DA5-5DB7876008E8}"/>
              </a:ext>
            </a:extLst>
          </p:cNvPr>
          <p:cNvGraphicFramePr>
            <a:graphicFrameLocks noGrp="1"/>
          </p:cNvGraphicFramePr>
          <p:nvPr>
            <p:extLst>
              <p:ext uri="{D42A27DB-BD31-4B8C-83A1-F6EECF244321}">
                <p14:modId xmlns:p14="http://schemas.microsoft.com/office/powerpoint/2010/main" val="2008438362"/>
              </p:ext>
            </p:extLst>
          </p:nvPr>
        </p:nvGraphicFramePr>
        <p:xfrm>
          <a:off x="4748326" y="429301"/>
          <a:ext cx="4152785" cy="3681781"/>
        </p:xfrm>
        <a:graphic>
          <a:graphicData uri="http://schemas.openxmlformats.org/drawingml/2006/table">
            <a:tbl>
              <a:tblPr/>
              <a:tblGrid>
                <a:gridCol w="416605">
                  <a:extLst>
                    <a:ext uri="{9D8B030D-6E8A-4147-A177-3AD203B41FA5}">
                      <a16:colId xmlns:a16="http://schemas.microsoft.com/office/drawing/2014/main" val="3335060134"/>
                    </a:ext>
                  </a:extLst>
                </a:gridCol>
                <a:gridCol w="1543050">
                  <a:extLst>
                    <a:ext uri="{9D8B030D-6E8A-4147-A177-3AD203B41FA5}">
                      <a16:colId xmlns:a16="http://schemas.microsoft.com/office/drawing/2014/main" val="2324371819"/>
                    </a:ext>
                  </a:extLst>
                </a:gridCol>
                <a:gridCol w="714375">
                  <a:extLst>
                    <a:ext uri="{9D8B030D-6E8A-4147-A177-3AD203B41FA5}">
                      <a16:colId xmlns:a16="http://schemas.microsoft.com/office/drawing/2014/main" val="493634564"/>
                    </a:ext>
                  </a:extLst>
                </a:gridCol>
                <a:gridCol w="750094">
                  <a:extLst>
                    <a:ext uri="{9D8B030D-6E8A-4147-A177-3AD203B41FA5}">
                      <a16:colId xmlns:a16="http://schemas.microsoft.com/office/drawing/2014/main" val="3929009577"/>
                    </a:ext>
                  </a:extLst>
                </a:gridCol>
                <a:gridCol w="728661">
                  <a:extLst>
                    <a:ext uri="{9D8B030D-6E8A-4147-A177-3AD203B41FA5}">
                      <a16:colId xmlns:a16="http://schemas.microsoft.com/office/drawing/2014/main" val="3145778000"/>
                    </a:ext>
                  </a:extLst>
                </a:gridCol>
              </a:tblGrid>
              <a:tr h="252509">
                <a:tc>
                  <a:txBody>
                    <a:bodyPr/>
                    <a:lstStyle/>
                    <a:p>
                      <a:pPr algn="ctr" fontAlgn="ctr"/>
                      <a:r>
                        <a:rPr lang="en-IN" sz="900" b="1" dirty="0" err="1">
                          <a:solidFill>
                            <a:schemeClr val="bg2"/>
                          </a:solidFill>
                          <a:effectLst/>
                        </a:rPr>
                        <a:t>S.No</a:t>
                      </a:r>
                      <a:r>
                        <a:rPr lang="en-IN" sz="900" b="1" dirty="0">
                          <a:solidFill>
                            <a:schemeClr val="bg2"/>
                          </a:solidFill>
                          <a:effectLst/>
                        </a:rPr>
                        <a:t>.</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br>
                        <a:rPr lang="en-IN" sz="900" b="1" dirty="0">
                          <a:solidFill>
                            <a:schemeClr val="bg2"/>
                          </a:solidFill>
                          <a:effectLst/>
                        </a:rPr>
                      </a:br>
                      <a:r>
                        <a:rPr lang="en-IN" sz="900" b="1" dirty="0" err="1">
                          <a:solidFill>
                            <a:schemeClr val="bg2"/>
                          </a:solidFill>
                          <a:effectLst/>
                        </a:rPr>
                        <a:t>model_name</a:t>
                      </a:r>
                      <a:endParaRPr lang="en-IN" sz="900" b="1" dirty="0">
                        <a:solidFill>
                          <a:schemeClr val="bg2"/>
                        </a:solidFill>
                        <a:effectLst/>
                      </a:endParaRP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900" b="1" dirty="0">
                          <a:solidFill>
                            <a:schemeClr val="bg2"/>
                          </a:solidFill>
                          <a:effectLst/>
                        </a:rPr>
                        <a:t>metrics</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900" b="1" dirty="0" err="1">
                          <a:solidFill>
                            <a:schemeClr val="bg2"/>
                          </a:solidFill>
                          <a:effectLst/>
                        </a:rPr>
                        <a:t>Is_Revenue</a:t>
                      </a:r>
                      <a:endParaRPr lang="en-IN" sz="900" b="1" dirty="0">
                        <a:solidFill>
                          <a:schemeClr val="bg2"/>
                        </a:solidFill>
                        <a:effectLst/>
                      </a:endParaRPr>
                    </a:p>
                    <a:p>
                      <a:pPr algn="ctr" fontAlgn="ctr"/>
                      <a:r>
                        <a:rPr lang="en-IN" sz="900" b="1" dirty="0">
                          <a:solidFill>
                            <a:schemeClr val="bg2"/>
                          </a:solidFill>
                          <a:effectLst/>
                        </a:rPr>
                        <a:t>(False)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tc>
                  <a:txBody>
                    <a:bodyPr/>
                    <a:lstStyle/>
                    <a:p>
                      <a:pPr algn="ctr" fontAlgn="ctr"/>
                      <a:r>
                        <a:rPr lang="en-IN" sz="900" b="1" dirty="0" err="1">
                          <a:solidFill>
                            <a:schemeClr val="bg2"/>
                          </a:solidFill>
                          <a:effectLst/>
                        </a:rPr>
                        <a:t>Is_Revenue</a:t>
                      </a:r>
                      <a:endParaRPr lang="en-IN" sz="900" b="1" dirty="0">
                        <a:solidFill>
                          <a:schemeClr val="bg2"/>
                        </a:solidFill>
                        <a:effectLst/>
                      </a:endParaRPr>
                    </a:p>
                    <a:p>
                      <a:pPr algn="ctr" fontAlgn="ctr"/>
                      <a:r>
                        <a:rPr lang="en-IN" sz="900" b="1" dirty="0">
                          <a:solidFill>
                            <a:schemeClr val="bg2"/>
                          </a:solidFill>
                          <a:effectLst/>
                        </a:rPr>
                        <a:t>(True)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358142853"/>
                  </a:ext>
                </a:extLst>
              </a:tr>
              <a:tr h="252509">
                <a:tc>
                  <a:txBody>
                    <a:bodyPr/>
                    <a:lstStyle/>
                    <a:p>
                      <a:pPr algn="ctr" fontAlgn="ctr"/>
                      <a:r>
                        <a:rPr lang="en-IN" sz="900" b="1" dirty="0">
                          <a:solidFill>
                            <a:schemeClr val="bg2"/>
                          </a:solidFill>
                          <a:effectLst/>
                        </a:rPr>
                        <a:t>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Random Forest(entropy)</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precision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1.00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0.94</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339087376"/>
                  </a:ext>
                </a:extLst>
              </a:tr>
              <a:tr h="252509">
                <a:tc>
                  <a:txBody>
                    <a:bodyPr/>
                    <a:lstStyle/>
                    <a:p>
                      <a:pPr algn="ctr" fontAlgn="ctr"/>
                      <a:r>
                        <a:rPr lang="en-IN" sz="900" b="1">
                          <a:solidFill>
                            <a:schemeClr val="bg2"/>
                          </a:solidFill>
                          <a:effectLst/>
                        </a:rPr>
                        <a:t>1</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Support Vector Machine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precision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0.85</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0.88</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5292795"/>
                  </a:ext>
                </a:extLst>
              </a:tr>
              <a:tr h="148535">
                <a:tc>
                  <a:txBody>
                    <a:bodyPr/>
                    <a:lstStyle/>
                    <a:p>
                      <a:pPr algn="ctr" fontAlgn="ctr"/>
                      <a:r>
                        <a:rPr lang="en-IN" sz="900" b="1">
                          <a:solidFill>
                            <a:schemeClr val="bg2"/>
                          </a:solidFill>
                          <a:effectLst/>
                        </a:rPr>
                        <a:t>2</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Voting Classifier</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precision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1.00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0.93</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884261809"/>
                  </a:ext>
                </a:extLst>
              </a:tr>
              <a:tr h="252509">
                <a:tc>
                  <a:txBody>
                    <a:bodyPr/>
                    <a:lstStyle/>
                    <a:p>
                      <a:pPr algn="ctr" fontAlgn="ctr"/>
                      <a:r>
                        <a:rPr lang="en-IN" sz="900" b="1">
                          <a:solidFill>
                            <a:schemeClr val="bg2"/>
                          </a:solidFill>
                          <a:effectLst/>
                        </a:rPr>
                        <a:t>3</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Logistic Regression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precision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0.78</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0.86</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9498158"/>
                  </a:ext>
                </a:extLst>
              </a:tr>
              <a:tr h="148535">
                <a:tc>
                  <a:txBody>
                    <a:bodyPr/>
                    <a:lstStyle/>
                    <a:p>
                      <a:pPr algn="ctr" fontAlgn="ctr"/>
                      <a:r>
                        <a:rPr lang="en-IN" sz="900" b="1">
                          <a:solidFill>
                            <a:schemeClr val="bg2"/>
                          </a:solidFill>
                          <a:effectLst/>
                        </a:rPr>
                        <a:t>4</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Decision Tree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precision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1.00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0.92</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631282522"/>
                  </a:ext>
                </a:extLst>
              </a:tr>
              <a:tr h="252509">
                <a:tc>
                  <a:txBody>
                    <a:bodyPr/>
                    <a:lstStyle/>
                    <a:p>
                      <a:pPr algn="ctr" fontAlgn="ctr"/>
                      <a:r>
                        <a:rPr lang="en-IN" sz="900" b="1">
                          <a:solidFill>
                            <a:schemeClr val="bg2"/>
                          </a:solidFill>
                          <a:effectLst/>
                        </a:rPr>
                        <a:t>5</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Random Forest(entropy)</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recall</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0.94</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1.00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5866838"/>
                  </a:ext>
                </a:extLst>
              </a:tr>
              <a:tr h="252509">
                <a:tc>
                  <a:txBody>
                    <a:bodyPr/>
                    <a:lstStyle/>
                    <a:p>
                      <a:pPr algn="ctr" fontAlgn="ctr"/>
                      <a:r>
                        <a:rPr lang="en-IN" sz="900" b="1">
                          <a:solidFill>
                            <a:schemeClr val="bg2"/>
                          </a:solidFill>
                          <a:effectLst/>
                        </a:rPr>
                        <a:t>6</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Support Vector Machine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recall</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0.88</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0.84</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50695512"/>
                  </a:ext>
                </a:extLst>
              </a:tr>
              <a:tr h="148535">
                <a:tc>
                  <a:txBody>
                    <a:bodyPr/>
                    <a:lstStyle/>
                    <a:p>
                      <a:pPr algn="ctr" fontAlgn="ctr"/>
                      <a:r>
                        <a:rPr lang="en-IN" sz="900" b="1">
                          <a:solidFill>
                            <a:schemeClr val="bg2"/>
                          </a:solidFill>
                          <a:effectLst/>
                        </a:rPr>
                        <a:t>7</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Voting Classifier</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recall</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0.92</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1.00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6392207"/>
                  </a:ext>
                </a:extLst>
              </a:tr>
              <a:tr h="252509">
                <a:tc>
                  <a:txBody>
                    <a:bodyPr/>
                    <a:lstStyle/>
                    <a:p>
                      <a:pPr algn="ctr" fontAlgn="ctr"/>
                      <a:r>
                        <a:rPr lang="en-IN" sz="900" b="1">
                          <a:solidFill>
                            <a:schemeClr val="bg2"/>
                          </a:solidFill>
                          <a:effectLst/>
                        </a:rPr>
                        <a:t>8</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Logistic Regression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recall</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0.87</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0.76</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17759"/>
                  </a:ext>
                </a:extLst>
              </a:tr>
              <a:tr h="148535">
                <a:tc>
                  <a:txBody>
                    <a:bodyPr/>
                    <a:lstStyle/>
                    <a:p>
                      <a:pPr algn="ctr" fontAlgn="ctr"/>
                      <a:r>
                        <a:rPr lang="en-IN" sz="900" b="1">
                          <a:solidFill>
                            <a:schemeClr val="bg2"/>
                          </a:solidFill>
                          <a:effectLst/>
                        </a:rPr>
                        <a:t>9</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Decision Tree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recall</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0.91</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1.00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7704805"/>
                  </a:ext>
                </a:extLst>
              </a:tr>
              <a:tr h="252509">
                <a:tc>
                  <a:txBody>
                    <a:bodyPr/>
                    <a:lstStyle/>
                    <a:p>
                      <a:pPr algn="ctr" fontAlgn="ctr"/>
                      <a:r>
                        <a:rPr lang="en-IN" sz="900" b="1">
                          <a:solidFill>
                            <a:schemeClr val="bg2"/>
                          </a:solidFill>
                          <a:effectLst/>
                        </a:rPr>
                        <a:t>10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Random Forest(entropy)</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f1_score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0.97</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0.97</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890521927"/>
                  </a:ext>
                </a:extLst>
              </a:tr>
              <a:tr h="252509">
                <a:tc>
                  <a:txBody>
                    <a:bodyPr/>
                    <a:lstStyle/>
                    <a:p>
                      <a:pPr algn="ctr" fontAlgn="ctr"/>
                      <a:r>
                        <a:rPr lang="en-IN" sz="900" b="1">
                          <a:solidFill>
                            <a:schemeClr val="bg2"/>
                          </a:solidFill>
                          <a:effectLst/>
                        </a:rPr>
                        <a:t>11</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Support Vector Machine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f1_score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0.87</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0.86</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110958"/>
                  </a:ext>
                </a:extLst>
              </a:tr>
              <a:tr h="148535">
                <a:tc>
                  <a:txBody>
                    <a:bodyPr/>
                    <a:lstStyle/>
                    <a:p>
                      <a:pPr algn="ctr" fontAlgn="ctr"/>
                      <a:r>
                        <a:rPr lang="en-IN" sz="900" b="1">
                          <a:solidFill>
                            <a:schemeClr val="bg2"/>
                          </a:solidFill>
                          <a:effectLst/>
                        </a:rPr>
                        <a:t>12</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Voting Classifier</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f1_score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0.96</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0.96</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470520208"/>
                  </a:ext>
                </a:extLst>
              </a:tr>
              <a:tr h="252509">
                <a:tc>
                  <a:txBody>
                    <a:bodyPr/>
                    <a:lstStyle/>
                    <a:p>
                      <a:pPr algn="ctr" fontAlgn="ctr"/>
                      <a:r>
                        <a:rPr lang="en-IN" sz="900" b="1">
                          <a:solidFill>
                            <a:schemeClr val="bg2"/>
                          </a:solidFill>
                          <a:effectLst/>
                        </a:rPr>
                        <a:t>13</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Logistic Regression</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f1_score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a:solidFill>
                            <a:schemeClr val="bg2"/>
                          </a:solidFill>
                          <a:effectLst/>
                        </a:rPr>
                        <a:t>0.82</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dirty="0">
                          <a:solidFill>
                            <a:schemeClr val="bg2"/>
                          </a:solidFill>
                          <a:effectLst/>
                        </a:rPr>
                        <a:t>0.80</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3924764"/>
                  </a:ext>
                </a:extLst>
              </a:tr>
              <a:tr h="148535">
                <a:tc>
                  <a:txBody>
                    <a:bodyPr/>
                    <a:lstStyle/>
                    <a:p>
                      <a:pPr algn="ctr" fontAlgn="ctr"/>
                      <a:r>
                        <a:rPr lang="en-IN" sz="900" b="1">
                          <a:solidFill>
                            <a:schemeClr val="bg2"/>
                          </a:solidFill>
                          <a:effectLst/>
                        </a:rPr>
                        <a:t>14</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Decision Tree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f1_score</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a:solidFill>
                            <a:schemeClr val="bg2"/>
                          </a:solidFill>
                          <a:effectLst/>
                        </a:rPr>
                        <a:t>0.95</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900" dirty="0">
                          <a:solidFill>
                            <a:schemeClr val="bg2"/>
                          </a:solidFill>
                          <a:effectLst/>
                        </a:rPr>
                        <a:t>0.95</a:t>
                      </a:r>
                    </a:p>
                  </a:txBody>
                  <a:tcPr marL="44560" marR="44560" marT="22280" marB="222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791439048"/>
                  </a:ext>
                </a:extLst>
              </a:tr>
            </a:tbl>
          </a:graphicData>
        </a:graphic>
      </p:graphicFrame>
    </p:spTree>
    <p:extLst>
      <p:ext uri="{BB962C8B-B14F-4D97-AF65-F5344CB8AC3E}">
        <p14:creationId xmlns:p14="http://schemas.microsoft.com/office/powerpoint/2010/main" val="17653562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543712" y="468544"/>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t>DATASET OBSERVATIONS</a:t>
            </a:r>
            <a:endParaRPr dirty="0"/>
          </a:p>
        </p:txBody>
      </p:sp>
      <p:sp>
        <p:nvSpPr>
          <p:cNvPr id="111" name="Google Shape;111;p5"/>
          <p:cNvSpPr txBox="1">
            <a:spLocks noGrp="1"/>
          </p:cNvSpPr>
          <p:nvPr>
            <p:ph type="body" idx="1"/>
          </p:nvPr>
        </p:nvSpPr>
        <p:spPr>
          <a:xfrm>
            <a:off x="629438" y="1171615"/>
            <a:ext cx="7821618" cy="1635876"/>
          </a:xfrm>
          <a:prstGeom prst="rect">
            <a:avLst/>
          </a:prstGeom>
          <a:noFill/>
          <a:ln>
            <a:noFill/>
          </a:ln>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rgbClr val="595858"/>
              </a:buClr>
              <a:buSzPts val="1150"/>
              <a:buFont typeface="Roboto"/>
              <a:buAutoNum type="arabicPeriod"/>
            </a:pPr>
            <a:r>
              <a:rPr lang="en-IN" sz="1100" dirty="0">
                <a:solidFill>
                  <a:srgbClr val="000000"/>
                </a:solidFill>
                <a:latin typeface="Times New Roman"/>
                <a:ea typeface="Times New Roman"/>
                <a:cs typeface="Times New Roman"/>
                <a:sym typeface="Times New Roman"/>
              </a:rPr>
              <a:t>Out of total 12330 transactions 6562 visited Admin page, out of these 6537 i.e., 99% visited product page, 2168 visited information pages. Out of 1908 Revenue generated transactions 1394 Transactions occurred from these pages. Which is 21%.</a:t>
            </a:r>
          </a:p>
          <a:p>
            <a:pPr marL="457200" lvl="0" indent="-301625" algn="l" rtl="0">
              <a:lnSpc>
                <a:spcPct val="100000"/>
              </a:lnSpc>
              <a:spcBef>
                <a:spcPts val="0"/>
              </a:spcBef>
              <a:spcAft>
                <a:spcPts val="0"/>
              </a:spcAft>
              <a:buClr>
                <a:srgbClr val="595858"/>
              </a:buClr>
              <a:buSzPts val="1150"/>
              <a:buFont typeface="Roboto"/>
              <a:buAutoNum type="arabicPeriod"/>
            </a:pPr>
            <a:r>
              <a:rPr lang="en-IN" sz="1100" dirty="0">
                <a:solidFill>
                  <a:srgbClr val="000000"/>
                </a:solidFill>
                <a:latin typeface="Times New Roman"/>
                <a:ea typeface="Times New Roman"/>
                <a:cs typeface="Times New Roman"/>
                <a:sym typeface="Times New Roman"/>
              </a:rPr>
              <a:t>Out of total 12330 transactions 2631 visited Info page, out of these 2623 i.e., 99% visited product page, 2168 came to info from </a:t>
            </a:r>
            <a:r>
              <a:rPr lang="en-IN" sz="1100" dirty="0" err="1">
                <a:solidFill>
                  <a:srgbClr val="000000"/>
                </a:solidFill>
                <a:latin typeface="Times New Roman"/>
                <a:ea typeface="Times New Roman"/>
                <a:cs typeface="Times New Roman"/>
                <a:sym typeface="Times New Roman"/>
              </a:rPr>
              <a:t>Admn</a:t>
            </a:r>
            <a:r>
              <a:rPr lang="en-IN" sz="1100" dirty="0">
                <a:solidFill>
                  <a:srgbClr val="000000"/>
                </a:solidFill>
                <a:latin typeface="Times New Roman"/>
                <a:ea typeface="Times New Roman"/>
                <a:cs typeface="Times New Roman"/>
                <a:sym typeface="Times New Roman"/>
              </a:rPr>
              <a:t> pages. Revenue generated transactions  is 23% from information pages</a:t>
            </a:r>
          </a:p>
          <a:p>
            <a:pPr marL="457200" lvl="0" indent="-301625" algn="l" rtl="0">
              <a:lnSpc>
                <a:spcPct val="100000"/>
              </a:lnSpc>
              <a:spcBef>
                <a:spcPts val="0"/>
              </a:spcBef>
              <a:spcAft>
                <a:spcPts val="0"/>
              </a:spcAft>
              <a:buClr>
                <a:srgbClr val="595858"/>
              </a:buClr>
              <a:buSzPts val="1150"/>
              <a:buFont typeface="Roboto"/>
              <a:buAutoNum type="arabicPeriod"/>
            </a:pPr>
            <a:r>
              <a:rPr lang="en-IN" sz="1100" dirty="0">
                <a:solidFill>
                  <a:srgbClr val="000000"/>
                </a:solidFill>
                <a:latin typeface="Times New Roman"/>
                <a:ea typeface="Times New Roman"/>
                <a:cs typeface="Times New Roman"/>
                <a:sym typeface="Times New Roman"/>
              </a:rPr>
              <a:t>5299 transactions directly visited Product page. But Revenue generated transactions are only 427 from these 5299 transactions which is just 8%.</a:t>
            </a:r>
          </a:p>
          <a:p>
            <a:pPr marL="457200" lvl="0" indent="-301625" algn="l" rtl="0">
              <a:lnSpc>
                <a:spcPct val="100000"/>
              </a:lnSpc>
              <a:spcBef>
                <a:spcPts val="0"/>
              </a:spcBef>
              <a:spcAft>
                <a:spcPts val="0"/>
              </a:spcAft>
              <a:buClr>
                <a:srgbClr val="595858"/>
              </a:buClr>
              <a:buSzPts val="1150"/>
              <a:buFont typeface="Roboto"/>
              <a:buAutoNum type="arabicPeriod"/>
            </a:pPr>
            <a:r>
              <a:rPr lang="en-IN" sz="1100" dirty="0">
                <a:solidFill>
                  <a:srgbClr val="000000"/>
                </a:solidFill>
                <a:latin typeface="Times New Roman"/>
                <a:ea typeface="Times New Roman"/>
                <a:cs typeface="Times New Roman"/>
                <a:sym typeface="Times New Roman"/>
              </a:rPr>
              <a:t>Overall out of 12330, 12292 visited Product pages which is 99%.</a:t>
            </a:r>
          </a:p>
          <a:p>
            <a:pPr marL="457200" lvl="0" indent="-301625" algn="l" rtl="0">
              <a:lnSpc>
                <a:spcPct val="100000"/>
              </a:lnSpc>
              <a:spcBef>
                <a:spcPts val="0"/>
              </a:spcBef>
              <a:spcAft>
                <a:spcPts val="0"/>
              </a:spcAft>
              <a:buClr>
                <a:srgbClr val="595858"/>
              </a:buClr>
              <a:buSzPts val="1150"/>
              <a:buFont typeface="Roboto"/>
              <a:buAutoNum type="arabicPeriod"/>
            </a:pPr>
            <a:r>
              <a:rPr lang="en-IN" sz="1100" dirty="0">
                <a:solidFill>
                  <a:srgbClr val="000000"/>
                </a:solidFill>
                <a:latin typeface="Times New Roman"/>
                <a:ea typeface="Times New Roman"/>
                <a:cs typeface="Times New Roman"/>
                <a:sym typeface="Times New Roman"/>
              </a:rPr>
              <a:t>Feature importance table appended below with Top 10 features, as per which Page values feature is at top with 38% followed by </a:t>
            </a:r>
            <a:r>
              <a:rPr lang="en-IN" sz="1100" dirty="0" err="1">
                <a:solidFill>
                  <a:srgbClr val="000000"/>
                </a:solidFill>
                <a:latin typeface="Times New Roman"/>
                <a:ea typeface="Times New Roman"/>
                <a:cs typeface="Times New Roman"/>
                <a:sym typeface="Times New Roman"/>
              </a:rPr>
              <a:t>producted</a:t>
            </a:r>
            <a:r>
              <a:rPr lang="en-IN" sz="1100" dirty="0">
                <a:solidFill>
                  <a:srgbClr val="000000"/>
                </a:solidFill>
                <a:latin typeface="Times New Roman"/>
                <a:ea typeface="Times New Roman"/>
                <a:cs typeface="Times New Roman"/>
                <a:sym typeface="Times New Roman"/>
              </a:rPr>
              <a:t> related duration and Exit rates.</a:t>
            </a:r>
          </a:p>
          <a:p>
            <a:pPr marL="0" lvl="0" indent="0" algn="l" rtl="0">
              <a:lnSpc>
                <a:spcPct val="100000"/>
              </a:lnSpc>
              <a:spcBef>
                <a:spcPts val="1600"/>
              </a:spcBef>
              <a:spcAft>
                <a:spcPts val="0"/>
              </a:spcAft>
              <a:buSzPts val="1300"/>
              <a:buNone/>
            </a:pPr>
            <a:endParaRPr sz="1000" dirty="0">
              <a:solidFill>
                <a:srgbClr val="000000"/>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F727E4F7-394B-3026-999B-8B9FBCA3DB09}"/>
              </a:ext>
            </a:extLst>
          </p:cNvPr>
          <p:cNvGraphicFramePr>
            <a:graphicFrameLocks noGrp="1"/>
          </p:cNvGraphicFramePr>
          <p:nvPr>
            <p:extLst>
              <p:ext uri="{D42A27DB-BD31-4B8C-83A1-F6EECF244321}">
                <p14:modId xmlns:p14="http://schemas.microsoft.com/office/powerpoint/2010/main" val="284968882"/>
              </p:ext>
            </p:extLst>
          </p:nvPr>
        </p:nvGraphicFramePr>
        <p:xfrm>
          <a:off x="4522008" y="2947786"/>
          <a:ext cx="4000500" cy="2011680"/>
        </p:xfrm>
        <a:graphic>
          <a:graphicData uri="http://schemas.openxmlformats.org/drawingml/2006/table">
            <a:tbl>
              <a:tblPr/>
              <a:tblGrid>
                <a:gridCol w="1028700">
                  <a:extLst>
                    <a:ext uri="{9D8B030D-6E8A-4147-A177-3AD203B41FA5}">
                      <a16:colId xmlns:a16="http://schemas.microsoft.com/office/drawing/2014/main" val="2045707012"/>
                    </a:ext>
                  </a:extLst>
                </a:gridCol>
                <a:gridCol w="1028700">
                  <a:extLst>
                    <a:ext uri="{9D8B030D-6E8A-4147-A177-3AD203B41FA5}">
                      <a16:colId xmlns:a16="http://schemas.microsoft.com/office/drawing/2014/main" val="523380759"/>
                    </a:ext>
                  </a:extLst>
                </a:gridCol>
                <a:gridCol w="952500">
                  <a:extLst>
                    <a:ext uri="{9D8B030D-6E8A-4147-A177-3AD203B41FA5}">
                      <a16:colId xmlns:a16="http://schemas.microsoft.com/office/drawing/2014/main" val="912199106"/>
                    </a:ext>
                  </a:extLst>
                </a:gridCol>
                <a:gridCol w="990600">
                  <a:extLst>
                    <a:ext uri="{9D8B030D-6E8A-4147-A177-3AD203B41FA5}">
                      <a16:colId xmlns:a16="http://schemas.microsoft.com/office/drawing/2014/main" val="1879511060"/>
                    </a:ext>
                  </a:extLst>
                </a:gridCol>
              </a:tblGrid>
              <a:tr h="731520">
                <a:tc>
                  <a:txBody>
                    <a:bodyPr/>
                    <a:lstStyle/>
                    <a:p>
                      <a:pPr algn="ctr" fontAlgn="ctr"/>
                      <a:r>
                        <a:rPr lang="en-IN" sz="1100" b="1" i="0" u="none" strike="noStrike">
                          <a:solidFill>
                            <a:srgbClr val="000000"/>
                          </a:solidFill>
                          <a:effectLst/>
                          <a:latin typeface="Calibri" panose="020F0502020204030204" pitchFamily="34" charset="0"/>
                        </a:rPr>
                        <a:t>Best feature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IN" sz="1100" b="1" i="0" u="none" strike="noStrike" dirty="0">
                          <a:solidFill>
                            <a:srgbClr val="000000"/>
                          </a:solidFill>
                          <a:effectLst/>
                          <a:latin typeface="Calibri" panose="020F0502020204030204" pitchFamily="34" charset="0"/>
                        </a:rPr>
                        <a:t>Name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IN" sz="1100" b="1" i="0" u="none" strike="noStrike" dirty="0">
                          <a:solidFill>
                            <a:srgbClr val="000000"/>
                          </a:solidFill>
                          <a:effectLst/>
                          <a:latin typeface="Calibri" panose="020F0502020204030204" pitchFamily="34" charset="0"/>
                        </a:rPr>
                        <a:t>NO. OF VISITS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IN" sz="1100" b="1" i="0" u="none" strike="noStrike">
                          <a:solidFill>
                            <a:srgbClr val="000000"/>
                          </a:solidFill>
                          <a:effectLst/>
                          <a:latin typeface="Calibri" panose="020F0502020204030204" pitchFamily="34" charset="0"/>
                        </a:rPr>
                        <a:t>% OF REVENUE GEN. VISITS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710861763"/>
                  </a:ext>
                </a:extLst>
              </a:tr>
              <a:tr h="182880">
                <a:tc>
                  <a:txBody>
                    <a:bodyPr/>
                    <a:lstStyle/>
                    <a:p>
                      <a:pPr algn="l" fontAlgn="b"/>
                      <a:r>
                        <a:rPr lang="en-IN" sz="1100" b="0" i="0" u="none" strike="noStrike">
                          <a:solidFill>
                            <a:srgbClr val="000000"/>
                          </a:solidFill>
                          <a:effectLst/>
                          <a:latin typeface="Calibri" panose="020F0502020204030204" pitchFamily="34" charset="0"/>
                        </a:rPr>
                        <a:t>Month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November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760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39.83%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9875547"/>
                  </a:ext>
                </a:extLst>
              </a:tr>
              <a:tr h="182880">
                <a:tc>
                  <a:txBody>
                    <a:bodyPr/>
                    <a:lstStyle/>
                    <a:p>
                      <a:pPr algn="l" fontAlgn="b"/>
                      <a:r>
                        <a:rPr lang="en-IN" sz="1100" b="0" i="0" u="none" strike="noStrike">
                          <a:solidFill>
                            <a:srgbClr val="000000"/>
                          </a:solidFill>
                          <a:effectLst/>
                          <a:latin typeface="Calibri" panose="020F0502020204030204" pitchFamily="34" charset="0"/>
                        </a:rPr>
                        <a:t>Browser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1223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64.10%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2832639"/>
                  </a:ext>
                </a:extLst>
              </a:tr>
              <a:tr h="182880">
                <a:tc>
                  <a:txBody>
                    <a:bodyPr/>
                    <a:lstStyle/>
                    <a:p>
                      <a:pPr algn="l" fontAlgn="b"/>
                      <a:r>
                        <a:rPr lang="en-IN" sz="1100" b="0" i="0" u="none" strike="noStrike">
                          <a:solidFill>
                            <a:srgbClr val="000000"/>
                          </a:solidFill>
                          <a:effectLst/>
                          <a:latin typeface="Calibri" panose="020F0502020204030204" pitchFamily="34" charset="0"/>
                        </a:rPr>
                        <a:t>Visitor type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Returning_Visitor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1470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9249010"/>
                  </a:ext>
                </a:extLst>
              </a:tr>
              <a:tr h="182880">
                <a:tc>
                  <a:txBody>
                    <a:bodyPr/>
                    <a:lstStyle/>
                    <a:p>
                      <a:pPr algn="l" fontAlgn="b"/>
                      <a:r>
                        <a:rPr lang="en-IN" sz="1100" b="0" i="0" u="none" strike="noStrike">
                          <a:solidFill>
                            <a:srgbClr val="000000"/>
                          </a:solidFill>
                          <a:effectLst/>
                          <a:latin typeface="Calibri" panose="020F0502020204030204" pitchFamily="34" charset="0"/>
                        </a:rPr>
                        <a:t>Traffic Type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847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44.39%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6565414"/>
                  </a:ext>
                </a:extLst>
              </a:tr>
              <a:tr h="182880">
                <a:tc>
                  <a:txBody>
                    <a:bodyPr/>
                    <a:lstStyle/>
                    <a:p>
                      <a:pPr algn="l" fontAlgn="b"/>
                      <a:r>
                        <a:rPr lang="en-IN" sz="1100" b="0" i="0" u="none" strike="noStrike">
                          <a:solidFill>
                            <a:srgbClr val="000000"/>
                          </a:solidFill>
                          <a:effectLst/>
                          <a:latin typeface="Calibri" panose="020F0502020204030204" pitchFamily="34" charset="0"/>
                        </a:rPr>
                        <a:t>Region Tye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771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40.41%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9214939"/>
                  </a:ext>
                </a:extLst>
              </a:tr>
              <a:tr h="182880">
                <a:tc>
                  <a:txBody>
                    <a:bodyPr/>
                    <a:lstStyle/>
                    <a:p>
                      <a:pPr algn="l" fontAlgn="b"/>
                      <a:r>
                        <a:rPr lang="en-IN" sz="1100" b="0" i="0" u="none" strike="noStrike">
                          <a:solidFill>
                            <a:srgbClr val="000000"/>
                          </a:solidFill>
                          <a:effectLst/>
                          <a:latin typeface="Calibri" panose="020F0502020204030204" pitchFamily="34" charset="0"/>
                        </a:rPr>
                        <a:t>Browser Type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1223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64.10%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854347"/>
                  </a:ext>
                </a:extLst>
              </a:tr>
              <a:tr h="182880">
                <a:tc>
                  <a:txBody>
                    <a:bodyPr/>
                    <a:lstStyle/>
                    <a:p>
                      <a:pPr algn="l" fontAlgn="b"/>
                      <a:r>
                        <a:rPr lang="en-IN" sz="1100" b="0" i="0" u="none" strike="noStrike">
                          <a:solidFill>
                            <a:srgbClr val="000000"/>
                          </a:solidFill>
                          <a:effectLst/>
                          <a:latin typeface="Calibri" panose="020F0502020204030204" pitchFamily="34" charset="0"/>
                        </a:rPr>
                        <a:t>OS type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Calibri" panose="020F0502020204030204" pitchFamily="34" charset="0"/>
                        </a:rPr>
                        <a:t>1155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60.53%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5436352"/>
                  </a:ext>
                </a:extLst>
              </a:tr>
            </a:tbl>
          </a:graphicData>
        </a:graphic>
      </p:graphicFrame>
      <p:graphicFrame>
        <p:nvGraphicFramePr>
          <p:cNvPr id="3" name="Table 2">
            <a:extLst>
              <a:ext uri="{FF2B5EF4-FFF2-40B4-BE49-F238E27FC236}">
                <a16:creationId xmlns:a16="http://schemas.microsoft.com/office/drawing/2014/main" id="{A4781D79-C06D-BC0F-F3D1-B89C1B816054}"/>
              </a:ext>
            </a:extLst>
          </p:cNvPr>
          <p:cNvGraphicFramePr>
            <a:graphicFrameLocks noGrp="1"/>
          </p:cNvGraphicFramePr>
          <p:nvPr>
            <p:extLst>
              <p:ext uri="{D42A27DB-BD31-4B8C-83A1-F6EECF244321}">
                <p14:modId xmlns:p14="http://schemas.microsoft.com/office/powerpoint/2010/main" val="2848156299"/>
              </p:ext>
            </p:extLst>
          </p:nvPr>
        </p:nvGraphicFramePr>
        <p:xfrm>
          <a:off x="711200" y="2875774"/>
          <a:ext cx="3585029" cy="2228820"/>
        </p:xfrm>
        <a:graphic>
          <a:graphicData uri="http://schemas.openxmlformats.org/drawingml/2006/table">
            <a:tbl>
              <a:tblPr/>
              <a:tblGrid>
                <a:gridCol w="646740">
                  <a:extLst>
                    <a:ext uri="{9D8B030D-6E8A-4147-A177-3AD203B41FA5}">
                      <a16:colId xmlns:a16="http://schemas.microsoft.com/office/drawing/2014/main" val="196970730"/>
                    </a:ext>
                  </a:extLst>
                </a:gridCol>
                <a:gridCol w="2099635">
                  <a:extLst>
                    <a:ext uri="{9D8B030D-6E8A-4147-A177-3AD203B41FA5}">
                      <a16:colId xmlns:a16="http://schemas.microsoft.com/office/drawing/2014/main" val="2281324468"/>
                    </a:ext>
                  </a:extLst>
                </a:gridCol>
                <a:gridCol w="838654">
                  <a:extLst>
                    <a:ext uri="{9D8B030D-6E8A-4147-A177-3AD203B41FA5}">
                      <a16:colId xmlns:a16="http://schemas.microsoft.com/office/drawing/2014/main" val="2735394399"/>
                    </a:ext>
                  </a:extLst>
                </a:gridCol>
              </a:tblGrid>
              <a:tr h="271726">
                <a:tc>
                  <a:txBody>
                    <a:bodyPr/>
                    <a:lstStyle/>
                    <a:p>
                      <a:pPr algn="l" fontAlgn="ctr"/>
                      <a:r>
                        <a:rPr lang="en-IN" sz="900" b="1" dirty="0" err="1">
                          <a:effectLst/>
                        </a:rPr>
                        <a:t>S.No</a:t>
                      </a:r>
                      <a:r>
                        <a:rPr lang="en-IN" sz="900" b="1" dirty="0">
                          <a:effectLst/>
                        </a:rPr>
                        <a:t>.</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l" fontAlgn="ctr"/>
                      <a:endParaRPr lang="en-IN" sz="900" b="1" dirty="0">
                        <a:effectLst/>
                      </a:endParaRPr>
                    </a:p>
                    <a:p>
                      <a:pPr algn="l" fontAlgn="ctr"/>
                      <a:r>
                        <a:rPr lang="en-IN" sz="900" b="1" dirty="0">
                          <a:effectLst/>
                        </a:rPr>
                        <a:t>Feature Name</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r>
                        <a:rPr lang="en-IN" sz="900" b="1" dirty="0">
                          <a:effectLst/>
                        </a:rPr>
                        <a:t>importance</a:t>
                      </a:r>
                      <a:endParaRPr lang="en-IN" sz="900" dirty="0"/>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874961323"/>
                  </a:ext>
                </a:extLst>
              </a:tr>
              <a:tr h="173148">
                <a:tc>
                  <a:txBody>
                    <a:bodyPr/>
                    <a:lstStyle/>
                    <a:p>
                      <a:pPr algn="l" fontAlgn="ctr"/>
                      <a:r>
                        <a:rPr lang="en-IN" sz="700" b="1" dirty="0">
                          <a:effectLst/>
                        </a:rPr>
                        <a:t>1</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ctr"/>
                      <a:r>
                        <a:rPr lang="en-IN" sz="700" b="1" dirty="0" err="1">
                          <a:effectLst/>
                        </a:rPr>
                        <a:t>PageValues</a:t>
                      </a:r>
                      <a:endParaRPr lang="en-IN" sz="700" b="1" dirty="0">
                        <a:effectLst/>
                      </a:endParaRP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700" dirty="0">
                          <a:effectLst/>
                        </a:rPr>
                        <a:t>0.381310</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750437101"/>
                  </a:ext>
                </a:extLst>
              </a:tr>
              <a:tr h="173148">
                <a:tc>
                  <a:txBody>
                    <a:bodyPr/>
                    <a:lstStyle/>
                    <a:p>
                      <a:pPr algn="l" fontAlgn="ctr"/>
                      <a:r>
                        <a:rPr lang="en-IN" sz="700" b="1" dirty="0">
                          <a:effectLst/>
                        </a:rPr>
                        <a:t>2</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IN" sz="700" b="1" dirty="0" err="1">
                          <a:effectLst/>
                        </a:rPr>
                        <a:t>ProductRelated_Duration</a:t>
                      </a:r>
                      <a:endParaRPr lang="en-IN" sz="700" b="1" dirty="0">
                        <a:effectLst/>
                      </a:endParaRP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700">
                          <a:effectLst/>
                        </a:rPr>
                        <a:t>0.091788</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09351156"/>
                  </a:ext>
                </a:extLst>
              </a:tr>
              <a:tr h="173148">
                <a:tc>
                  <a:txBody>
                    <a:bodyPr/>
                    <a:lstStyle/>
                    <a:p>
                      <a:pPr algn="l" fontAlgn="ctr"/>
                      <a:r>
                        <a:rPr lang="en-IN" sz="700" b="1" dirty="0">
                          <a:effectLst/>
                        </a:rPr>
                        <a:t>3</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ctr"/>
                      <a:r>
                        <a:rPr lang="en-IN" sz="700" b="1" dirty="0" err="1">
                          <a:effectLst/>
                        </a:rPr>
                        <a:t>ExitRates</a:t>
                      </a:r>
                      <a:r>
                        <a:rPr lang="en-IN" sz="700" b="1" dirty="0">
                          <a:effectLst/>
                        </a:rPr>
                        <a:t> in %</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700">
                          <a:effectLst/>
                        </a:rPr>
                        <a:t>0.089217</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924984531"/>
                  </a:ext>
                </a:extLst>
              </a:tr>
              <a:tr h="181617">
                <a:tc>
                  <a:txBody>
                    <a:bodyPr/>
                    <a:lstStyle/>
                    <a:p>
                      <a:pPr algn="l" fontAlgn="ctr"/>
                      <a:r>
                        <a:rPr lang="en-IN" sz="700" b="1" dirty="0">
                          <a:effectLst/>
                        </a:rPr>
                        <a:t>4</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IN" sz="700" b="1" dirty="0" err="1">
                          <a:effectLst/>
                        </a:rPr>
                        <a:t>ProductRelated</a:t>
                      </a:r>
                      <a:endParaRPr lang="en-IN" sz="700" b="1" dirty="0">
                        <a:effectLst/>
                      </a:endParaRP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700">
                          <a:effectLst/>
                        </a:rPr>
                        <a:t>0.067117</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11643529"/>
                  </a:ext>
                </a:extLst>
              </a:tr>
              <a:tr h="173148">
                <a:tc>
                  <a:txBody>
                    <a:bodyPr/>
                    <a:lstStyle/>
                    <a:p>
                      <a:pPr algn="l" fontAlgn="ctr"/>
                      <a:r>
                        <a:rPr lang="en-IN" sz="700" b="1" dirty="0">
                          <a:effectLst/>
                        </a:rPr>
                        <a:t>5</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ctr"/>
                      <a:r>
                        <a:rPr lang="en-IN" sz="700" b="1">
                          <a:effectLst/>
                        </a:rPr>
                        <a:t>BounceRates in %</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700" dirty="0">
                          <a:effectLst/>
                        </a:rPr>
                        <a:t>0.057214</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259113974"/>
                  </a:ext>
                </a:extLst>
              </a:tr>
              <a:tr h="173148">
                <a:tc>
                  <a:txBody>
                    <a:bodyPr/>
                    <a:lstStyle/>
                    <a:p>
                      <a:pPr algn="l" fontAlgn="ctr"/>
                      <a:r>
                        <a:rPr lang="en-IN" sz="700" b="1" dirty="0">
                          <a:effectLst/>
                        </a:rPr>
                        <a:t>6</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IN" sz="700" b="1" dirty="0" err="1">
                          <a:effectLst/>
                        </a:rPr>
                        <a:t>Administrative_Duration</a:t>
                      </a:r>
                      <a:endParaRPr lang="en-IN" sz="700" b="1" dirty="0">
                        <a:effectLst/>
                      </a:endParaRP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700" dirty="0">
                          <a:effectLst/>
                        </a:rPr>
                        <a:t>0.046151</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90557069"/>
                  </a:ext>
                </a:extLst>
              </a:tr>
              <a:tr h="173148">
                <a:tc>
                  <a:txBody>
                    <a:bodyPr/>
                    <a:lstStyle/>
                    <a:p>
                      <a:pPr algn="l" fontAlgn="ctr"/>
                      <a:r>
                        <a:rPr lang="en-IN" sz="700" b="1" dirty="0">
                          <a:effectLst/>
                        </a:rPr>
                        <a:t>7</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ctr"/>
                      <a:r>
                        <a:rPr lang="en-IN" sz="700" b="1">
                          <a:effectLst/>
                        </a:rPr>
                        <a:t>Administrative</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700" dirty="0">
                          <a:effectLst/>
                        </a:rPr>
                        <a:t>0.039228</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355200685"/>
                  </a:ext>
                </a:extLst>
              </a:tr>
              <a:tr h="173148">
                <a:tc>
                  <a:txBody>
                    <a:bodyPr/>
                    <a:lstStyle/>
                    <a:p>
                      <a:pPr algn="l" fontAlgn="ctr"/>
                      <a:r>
                        <a:rPr lang="en-IN" sz="700" b="1" dirty="0">
                          <a:effectLst/>
                        </a:rPr>
                        <a:t>8</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IN" sz="700" b="1" dirty="0" err="1">
                          <a:effectLst/>
                        </a:rPr>
                        <a:t>Month_Nov</a:t>
                      </a:r>
                      <a:endParaRPr lang="en-IN" sz="700" b="1" dirty="0">
                        <a:effectLst/>
                      </a:endParaRP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700" dirty="0">
                          <a:effectLst/>
                        </a:rPr>
                        <a:t>0.029544</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35248649"/>
                  </a:ext>
                </a:extLst>
              </a:tr>
              <a:tr h="173148">
                <a:tc>
                  <a:txBody>
                    <a:bodyPr/>
                    <a:lstStyle/>
                    <a:p>
                      <a:pPr algn="l" fontAlgn="ctr"/>
                      <a:r>
                        <a:rPr lang="en-IN" sz="700" b="1" dirty="0">
                          <a:effectLst/>
                        </a:rPr>
                        <a:t>9</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l" fontAlgn="ctr"/>
                      <a:r>
                        <a:rPr lang="en-IN" sz="700" b="1" dirty="0" err="1">
                          <a:effectLst/>
                        </a:rPr>
                        <a:t>TrafficType</a:t>
                      </a:r>
                      <a:endParaRPr lang="en-IN" sz="700" b="1" dirty="0">
                        <a:effectLst/>
                      </a:endParaRP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ctr"/>
                      <a:r>
                        <a:rPr lang="en-IN" sz="700" dirty="0">
                          <a:effectLst/>
                        </a:rPr>
                        <a:t>0.028132</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1176065848"/>
                  </a:ext>
                </a:extLst>
              </a:tr>
              <a:tr h="173148">
                <a:tc>
                  <a:txBody>
                    <a:bodyPr/>
                    <a:lstStyle/>
                    <a:p>
                      <a:pPr algn="l" fontAlgn="ctr"/>
                      <a:r>
                        <a:rPr lang="en-IN" sz="700" b="1" dirty="0">
                          <a:effectLst/>
                        </a:rPr>
                        <a:t>10</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IN" sz="700" b="1" dirty="0">
                          <a:effectLst/>
                        </a:rPr>
                        <a:t>Region</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700" dirty="0">
                          <a:effectLst/>
                        </a:rPr>
                        <a:t>0.026786</a:t>
                      </a:r>
                    </a:p>
                  </a:txBody>
                  <a:tcPr marL="80700" marR="80700" marT="40350" marB="40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62113140"/>
                  </a:ext>
                </a:extLst>
              </a:tr>
            </a:tbl>
          </a:graphicData>
        </a:graphic>
      </p:graphicFrame>
    </p:spTree>
    <p:extLst>
      <p:ext uri="{BB962C8B-B14F-4D97-AF65-F5344CB8AC3E}">
        <p14:creationId xmlns:p14="http://schemas.microsoft.com/office/powerpoint/2010/main" val="147377817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543712" y="468544"/>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 dirty="0"/>
              <a:t>RECOMMENDATIONS</a:t>
            </a:r>
            <a:endParaRPr dirty="0"/>
          </a:p>
        </p:txBody>
      </p:sp>
      <p:graphicFrame>
        <p:nvGraphicFramePr>
          <p:cNvPr id="3" name="Diagram 2">
            <a:extLst>
              <a:ext uri="{FF2B5EF4-FFF2-40B4-BE49-F238E27FC236}">
                <a16:creationId xmlns:a16="http://schemas.microsoft.com/office/drawing/2014/main" id="{68AEFADA-8490-9EB3-6F48-F61BDEF9981A}"/>
              </a:ext>
            </a:extLst>
          </p:cNvPr>
          <p:cNvGraphicFramePr/>
          <p:nvPr>
            <p:extLst>
              <p:ext uri="{D42A27DB-BD31-4B8C-83A1-F6EECF244321}">
                <p14:modId xmlns:p14="http://schemas.microsoft.com/office/powerpoint/2010/main" val="573877393"/>
              </p:ext>
            </p:extLst>
          </p:nvPr>
        </p:nvGraphicFramePr>
        <p:xfrm>
          <a:off x="629438" y="1307306"/>
          <a:ext cx="7821618" cy="37790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669866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8" name="Picture 7">
            <a:extLst>
              <a:ext uri="{FF2B5EF4-FFF2-40B4-BE49-F238E27FC236}">
                <a16:creationId xmlns:a16="http://schemas.microsoft.com/office/drawing/2014/main" id="{5C925057-92E2-0B31-4B44-167295CDC39E}"/>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89085012"/>
      </p:ext>
    </p:extLst>
  </p:cSld>
  <p:clrMapOvr>
    <a:masterClrMapping/>
  </p:clrMapOvr>
  <p:transition spd="slow">
    <p:push dir="u"/>
  </p:transition>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2225</TotalTime>
  <Words>1672</Words>
  <Application>Microsoft Office PowerPoint</Application>
  <PresentationFormat>On-screen Show (16:9)</PresentationFormat>
  <Paragraphs>407</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Lato</vt:lpstr>
      <vt:lpstr>Times New Roman</vt:lpstr>
      <vt:lpstr>Raleway</vt:lpstr>
      <vt:lpstr>Roboto</vt:lpstr>
      <vt:lpstr>Calibri</vt:lpstr>
      <vt:lpstr>Arial</vt:lpstr>
      <vt:lpstr>Streamline</vt:lpstr>
      <vt:lpstr>Online shoppers Intentions ML PROJECT</vt:lpstr>
      <vt:lpstr>Problem Statement - Objective</vt:lpstr>
      <vt:lpstr>Feature Analysis</vt:lpstr>
      <vt:lpstr>Data  Description - Stats</vt:lpstr>
      <vt:lpstr>EDA – TARGET ANALYSIS</vt:lpstr>
      <vt:lpstr>EDA – COLLINEARITY</vt:lpstr>
      <vt:lpstr>EDA – UNIVARIATE ANALYSIS</vt:lpstr>
      <vt:lpstr>EDA – BI VARIATE ANALYSIS – TARGET VS FEATURE</vt:lpstr>
      <vt:lpstr>EDA – BI VARIATE ANALYSIS – TARGET VS FEATURE</vt:lpstr>
      <vt:lpstr>DATA PREPROCESSING</vt:lpstr>
      <vt:lpstr>MODEL FITTING &amp; PERFORMANCE</vt:lpstr>
      <vt:lpstr>AUC &amp; METRICS</vt:lpstr>
      <vt:lpstr>DATASET OBSERVATIONS</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Inferential Statistics</dc:title>
  <dc:creator>Venu Gopal</dc:creator>
  <cp:lastModifiedBy>Venu Gopal</cp:lastModifiedBy>
  <cp:revision>13</cp:revision>
  <dcterms:modified xsi:type="dcterms:W3CDTF">2023-02-15T17:31:19Z</dcterms:modified>
</cp:coreProperties>
</file>